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60" r:id="rId4"/>
    <p:sldId id="261" r:id="rId5"/>
    <p:sldId id="262" r:id="rId6"/>
    <p:sldId id="263" r:id="rId7"/>
    <p:sldId id="264" r:id="rId8"/>
    <p:sldId id="265" r:id="rId9"/>
  </p:sldIdLst>
  <p:sldSz cx="12192000" cy="6858000"/>
  <p:notesSz cx="6797675" cy="987425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 userDrawn="1">
          <p15:clr>
            <a:srgbClr val="A4A3A4"/>
          </p15:clr>
        </p15:guide>
        <p15:guide id="2" pos="371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5139"/>
    <a:srgbClr val="FDB11D"/>
    <a:srgbClr val="4385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63" autoAdjust="0"/>
    <p:restoredTop sz="96405" autoAdjust="0"/>
  </p:normalViewPr>
  <p:slideViewPr>
    <p:cSldViewPr showGuides="1">
      <p:cViewPr varScale="1">
        <p:scale>
          <a:sx n="103" d="100"/>
          <a:sy n="103" d="100"/>
        </p:scale>
        <p:origin x="870" y="72"/>
      </p:cViewPr>
      <p:guideLst>
        <p:guide orient="horz" pos="2205"/>
        <p:guide pos="3719"/>
      </p:guideLst>
    </p:cSldViewPr>
  </p:slideViewPr>
  <p:notesTextViewPr>
    <p:cViewPr>
      <p:scale>
        <a:sx n="200" d="100"/>
        <a:sy n="2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4" y="0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661A17-B369-40A6-BAD3-08D18F542D5C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78600" cy="3702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690269"/>
            <a:ext cx="5438140" cy="44434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378823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4" y="9378823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8A6D60-A5E2-4D92-9B64-E08BFCA191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1619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이번학기</a:t>
            </a:r>
            <a:r>
              <a:rPr lang="ko-KR" altLang="en-US" dirty="0"/>
              <a:t> 동안</a:t>
            </a:r>
            <a:r>
              <a:rPr lang="en-US" altLang="ko-KR" dirty="0"/>
              <a:t>,</a:t>
            </a:r>
            <a:r>
              <a:rPr lang="ko-KR" altLang="en-US" dirty="0"/>
              <a:t> 빅데이터의 특징</a:t>
            </a:r>
            <a:endParaRPr lang="en-US" altLang="ko-KR" dirty="0"/>
          </a:p>
          <a:p>
            <a:r>
              <a:rPr lang="ko-KR" altLang="en-US" dirty="0"/>
              <a:t>그럼 빅데이터를 가지고 어떠한 분석을 할 수 있는지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그러한 데이터에 적용할 수 있는 테크닉</a:t>
            </a:r>
            <a:r>
              <a:rPr lang="en-US" altLang="ko-KR" dirty="0"/>
              <a:t>!</a:t>
            </a:r>
          </a:p>
          <a:p>
            <a:r>
              <a:rPr lang="ko-KR" altLang="en-US" dirty="0"/>
              <a:t>그리고 이러한 분석과 테크닉을 가지고 실제 데이터에 적용할 예정입니다</a:t>
            </a:r>
            <a:r>
              <a:rPr lang="en-US" altLang="ko-KR" dirty="0"/>
              <a:t>.</a:t>
            </a:r>
          </a:p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8A6D60-A5E2-4D92-9B64-E08BFCA191C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79548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D58E2E51-9960-426A-AFAD-1D98F723F29A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795"/>
          <a:stretch/>
        </p:blipFill>
        <p:spPr bwMode="auto">
          <a:xfrm>
            <a:off x="335361" y="-1"/>
            <a:ext cx="1493440" cy="1556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</p:spPr>
        <p:txBody>
          <a:bodyPr anchor="b"/>
          <a:lstStyle>
            <a:lvl1pPr>
              <a:defRPr sz="4000"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pic>
        <p:nvPicPr>
          <p:cNvPr id="8" name="내용 개체 틀 5">
            <a:extLst>
              <a:ext uri="{FF2B5EF4-FFF2-40B4-BE49-F238E27FC236}">
                <a16:creationId xmlns:a16="http://schemas.microsoft.com/office/drawing/2014/main" id="{5590BC9F-460E-4C0D-875C-FABDF9D42B0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64619"/>
          <a:stretch/>
        </p:blipFill>
        <p:spPr>
          <a:xfrm>
            <a:off x="10704512" y="148092"/>
            <a:ext cx="1342323" cy="1135106"/>
          </a:xfrm>
          <a:prstGeom prst="rect">
            <a:avLst/>
          </a:prstGeom>
        </p:spPr>
      </p:pic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0811481E-90B9-4DEA-8BB5-48F926681234}"/>
              </a:ext>
            </a:extLst>
          </p:cNvPr>
          <p:cNvCxnSpPr/>
          <p:nvPr userDrawn="1"/>
        </p:nvCxnSpPr>
        <p:spPr>
          <a:xfrm>
            <a:off x="914400" y="3717032"/>
            <a:ext cx="10462187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7581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내용 개체 틀 5">
            <a:extLst>
              <a:ext uri="{FF2B5EF4-FFF2-40B4-BE49-F238E27FC236}">
                <a16:creationId xmlns:a16="http://schemas.microsoft.com/office/drawing/2014/main" id="{16FD472A-63B5-4129-9C32-E61A253DFE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64619"/>
          <a:stretch/>
        </p:blipFill>
        <p:spPr>
          <a:xfrm>
            <a:off x="11333555" y="5949280"/>
            <a:ext cx="843132" cy="622076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FCBA3911-7C28-4595-B7A6-D545A102C7A6}"/>
              </a:ext>
            </a:extLst>
          </p:cNvPr>
          <p:cNvSpPr/>
          <p:nvPr userDrawn="1"/>
        </p:nvSpPr>
        <p:spPr>
          <a:xfrm>
            <a:off x="0" y="6673118"/>
            <a:ext cx="5146080" cy="184882"/>
          </a:xfrm>
          <a:prstGeom prst="rect">
            <a:avLst/>
          </a:prstGeom>
          <a:solidFill>
            <a:srgbClr val="4385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66A5412-8D4D-461F-AFF0-9243A7A5D5C6}"/>
              </a:ext>
            </a:extLst>
          </p:cNvPr>
          <p:cNvSpPr/>
          <p:nvPr userDrawn="1"/>
        </p:nvSpPr>
        <p:spPr>
          <a:xfrm>
            <a:off x="5146080" y="6673118"/>
            <a:ext cx="2160917" cy="184882"/>
          </a:xfrm>
          <a:prstGeom prst="rect">
            <a:avLst/>
          </a:prstGeom>
          <a:solidFill>
            <a:srgbClr val="FDB1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59D8680-D3B8-46FE-A04C-E923D6B9A00B}"/>
              </a:ext>
            </a:extLst>
          </p:cNvPr>
          <p:cNvSpPr/>
          <p:nvPr userDrawn="1"/>
        </p:nvSpPr>
        <p:spPr>
          <a:xfrm>
            <a:off x="7306997" y="6669423"/>
            <a:ext cx="4885003" cy="184882"/>
          </a:xfrm>
          <a:prstGeom prst="rect">
            <a:avLst/>
          </a:prstGeom>
          <a:solidFill>
            <a:srgbClr val="F251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335360" y="980729"/>
            <a:ext cx="11521280" cy="5145435"/>
          </a:xfrm>
        </p:spPr>
        <p:txBody>
          <a:bodyPr>
            <a:normAutofit/>
          </a:bodyPr>
          <a:lstStyle>
            <a:lvl1pPr marL="449263" indent="-449263">
              <a:buClr>
                <a:schemeClr val="tx2">
                  <a:lumMod val="60000"/>
                  <a:lumOff val="40000"/>
                </a:schemeClr>
              </a:buClr>
              <a:buSzPct val="100000"/>
              <a:buFont typeface="Wingdings" panose="05000000000000000000" pitchFamily="2" charset="2"/>
              <a:buChar char=""/>
              <a:defRPr sz="3200" spc="0" baseline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  <a:lvl2pPr marL="801688" indent="-352425">
              <a:buClr>
                <a:srgbClr val="FF0000"/>
              </a:buClr>
              <a:buFont typeface="Wingdings" panose="05000000000000000000" pitchFamily="2" charset="2"/>
              <a:buChar char=""/>
              <a:defRPr sz="2800" spc="0" baseline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2pPr>
            <a:lvl3pPr marL="1165225" indent="-268288" defTabSz="985838">
              <a:buClr>
                <a:srgbClr val="00B050"/>
              </a:buClr>
              <a:buFont typeface="Wingdings" panose="05000000000000000000" pitchFamily="2" charset="2"/>
              <a:buChar char="§"/>
              <a:tabLst>
                <a:tab pos="2060575" algn="l"/>
              </a:tabLst>
              <a:defRPr sz="2400" spc="0" baseline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3pPr>
            <a:lvl4pPr>
              <a:defRPr sz="2000" spc="0" baseline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4pPr>
            <a:lvl5pPr>
              <a:defRPr sz="2000" spc="0" baseline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527381" y="6525345"/>
            <a:ext cx="2414059" cy="196131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165600" y="6489340"/>
            <a:ext cx="3860800" cy="268139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5807968" y="6659107"/>
            <a:ext cx="719403" cy="195198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fld id="{B592EF5A-E95E-4411-9976-253A83E02D3F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0" name="제목 9">
            <a:extLst>
              <a:ext uri="{FF2B5EF4-FFF2-40B4-BE49-F238E27FC236}">
                <a16:creationId xmlns:a16="http://schemas.microsoft.com/office/drawing/2014/main" id="{43392848-4D43-402B-8E3A-233D20099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136526"/>
            <a:ext cx="11018440" cy="484163"/>
          </a:xfrm>
          <a:prstGeom prst="rect">
            <a:avLst/>
          </a:prstGeom>
        </p:spPr>
        <p:txBody>
          <a:bodyPr/>
          <a:lstStyle>
            <a:lvl1pPr algn="l">
              <a:defRPr lang="en-US" sz="2800" spc="0" baseline="0" dirty="0"/>
            </a:lvl1pPr>
          </a:lstStyle>
          <a:p>
            <a:pPr marL="0" lvl="0" algn="l"/>
            <a:r>
              <a:rPr lang="ko-KR" altLang="en-US" dirty="0"/>
              <a:t>마스터 제목 스타일 편집</a:t>
            </a:r>
            <a:endParaRPr lang="en-US" dirty="0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0D896B52-093B-40B6-91E8-4B761F001AE6}"/>
              </a:ext>
            </a:extLst>
          </p:cNvPr>
          <p:cNvCxnSpPr>
            <a:cxnSpLocks/>
          </p:cNvCxnSpPr>
          <p:nvPr userDrawn="1"/>
        </p:nvCxnSpPr>
        <p:spPr>
          <a:xfrm>
            <a:off x="335361" y="691392"/>
            <a:ext cx="11721281" cy="0"/>
          </a:xfrm>
          <a:prstGeom prst="line">
            <a:avLst/>
          </a:prstGeom>
          <a:ln>
            <a:gradFill>
              <a:gsLst>
                <a:gs pos="0">
                  <a:schemeClr val="tx1"/>
                </a:gs>
                <a:gs pos="50000">
                  <a:schemeClr val="tx1">
                    <a:lumMod val="75000"/>
                    <a:lumOff val="25000"/>
                  </a:schemeClr>
                </a:gs>
                <a:gs pos="100000">
                  <a:schemeClr val="accent1">
                    <a:tint val="23500"/>
                    <a:satMod val="160000"/>
                    <a:alpha val="0"/>
                  </a:schemeClr>
                </a:gs>
              </a:gsLst>
              <a:lin ang="0" scaled="0"/>
            </a:gra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 userDrawn="1"/>
        </p:nvSpPr>
        <p:spPr>
          <a:xfrm>
            <a:off x="11089372" y="6632702"/>
            <a:ext cx="8579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동아대학교</a:t>
            </a:r>
          </a:p>
        </p:txBody>
      </p:sp>
    </p:spTree>
    <p:extLst>
      <p:ext uri="{BB962C8B-B14F-4D97-AF65-F5344CB8AC3E}">
        <p14:creationId xmlns:p14="http://schemas.microsoft.com/office/powerpoint/2010/main" val="29943590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0" cap="all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527381" y="6525345"/>
            <a:ext cx="2414059" cy="196131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165600" y="6489340"/>
            <a:ext cx="3860800" cy="268139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5807968" y="6659107"/>
            <a:ext cx="719403" cy="195198"/>
          </a:xfrm>
          <a:prstGeom prst="rect">
            <a:avLst/>
          </a:prstGeom>
        </p:spPr>
        <p:txBody>
          <a:bodyPr/>
          <a:lstStyle/>
          <a:p>
            <a:fld id="{B592EF5A-E95E-4411-9976-253A83E02D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400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35360" y="980733"/>
            <a:ext cx="11521280" cy="54007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49263" lvl="0" indent="-449263">
              <a:buClr>
                <a:schemeClr val="tx2">
                  <a:lumMod val="60000"/>
                  <a:lumOff val="40000"/>
                </a:schemeClr>
              </a:buClr>
            </a:pPr>
            <a:r>
              <a:rPr lang="ko-KR" altLang="en-US" dirty="0"/>
              <a:t>마스터 텍스트 스타일을 편집합니다</a:t>
            </a:r>
            <a:endParaRPr lang="en-US" altLang="ko-KR" dirty="0"/>
          </a:p>
          <a:p>
            <a:pPr marL="801688" lvl="1" indent="-352425">
              <a:buClr>
                <a:srgbClr val="FF0000"/>
              </a:buClr>
            </a:pPr>
            <a:r>
              <a:rPr lang="ko-KR" altLang="en-US" dirty="0"/>
              <a:t>둘째 수준</a:t>
            </a:r>
          </a:p>
          <a:p>
            <a:pPr marL="985838" lvl="2" indent="-271463" defTabSz="985838">
              <a:buClr>
                <a:srgbClr val="00B050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5807968" y="6659107"/>
            <a:ext cx="719403" cy="1951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2">
                    <a:lumMod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B592EF5A-E95E-4411-9976-253A83E02D3F}" type="slidenum">
              <a:rPr lang="ko-KR" altLang="en-US" smtClean="0"/>
              <a:pPr/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738403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2800" kern="1200" spc="-100" baseline="0">
          <a:solidFill>
            <a:schemeClr val="tx1"/>
          </a:solidFill>
          <a:latin typeface="HY견고딕" panose="02030600000101010101" pitchFamily="18" charset="-127"/>
          <a:ea typeface="HY견고딕" panose="02030600000101010101" pitchFamily="18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Wingdings" panose="05000000000000000000" pitchFamily="2" charset="2"/>
        <a:buChar char=""/>
        <a:defRPr lang="en-US" altLang="ko-KR" sz="2800" kern="1200" spc="-100" baseline="0" dirty="0" smtClean="0">
          <a:solidFill>
            <a:schemeClr val="tx1"/>
          </a:solidFill>
          <a:latin typeface="KoPubWorld돋움체 Medium" panose="00000600000000000000" pitchFamily="2" charset="-127"/>
          <a:ea typeface="KoPubWorld돋움체 Medium" panose="00000600000000000000" pitchFamily="2" charset="-127"/>
          <a:cs typeface="KoPubWorld돋움체 Medium" panose="00000600000000000000" pitchFamily="2" charset="-127"/>
          <a:sym typeface="Wingdings"/>
        </a:defRPr>
      </a:lvl1pPr>
      <a:lvl2pPr marL="668338" indent="-312738" algn="l" defTabSz="914400" rtl="0" eaLnBrk="1" latinLnBrk="1" hangingPunct="1">
        <a:spcBef>
          <a:spcPts val="832"/>
        </a:spcBef>
        <a:buFont typeface="Wingdings" panose="05000000000000000000" pitchFamily="2" charset="2"/>
        <a:buChar char=""/>
        <a:defRPr lang="ko-KR" altLang="en-US" sz="2400" kern="1200" spc="-100" baseline="0" dirty="0" smtClean="0">
          <a:solidFill>
            <a:schemeClr val="tx1"/>
          </a:solidFill>
          <a:latin typeface="KoPubWorld돋움체 Medium" panose="00000600000000000000" pitchFamily="2" charset="-127"/>
          <a:ea typeface="KoPubWorld돋움체 Medium" panose="00000600000000000000" pitchFamily="2" charset="-127"/>
          <a:cs typeface="KoPubWorld돋움체 Medium" panose="00000600000000000000" pitchFamily="2" charset="-127"/>
        </a:defRPr>
      </a:lvl2pPr>
      <a:lvl3pPr marL="896938" indent="-177800" algn="l" defTabSz="914400" rtl="0" eaLnBrk="1" latinLnBrk="1" hangingPunct="1">
        <a:spcBef>
          <a:spcPts val="724"/>
        </a:spcBef>
        <a:buFont typeface="Arial" panose="020B0604020202020204" pitchFamily="34" charset="0"/>
        <a:buChar char="•"/>
        <a:defRPr lang="ko-KR" altLang="en-US" sz="2000" kern="1200" spc="-100" baseline="0" dirty="0" smtClean="0">
          <a:solidFill>
            <a:schemeClr val="tx1"/>
          </a:solidFill>
          <a:latin typeface="KoPubWorld돋움체 Medium" panose="00000600000000000000" pitchFamily="2" charset="-127"/>
          <a:ea typeface="KoPubWorld돋움체 Medium" panose="00000600000000000000" pitchFamily="2" charset="-127"/>
          <a:cs typeface="KoPubWorld돋움체 Medium" panose="00000600000000000000" pitchFamily="2" charset="-127"/>
        </a:defRPr>
      </a:lvl3pPr>
      <a:lvl4pPr marL="1150938" indent="-211138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lang="ko-KR" altLang="en-US" sz="1800" kern="1200" spc="-100" baseline="0" dirty="0" smtClean="0">
          <a:solidFill>
            <a:schemeClr val="tx1"/>
          </a:solidFill>
          <a:latin typeface="KoPubWorld돋움체 Medium" panose="00000600000000000000" pitchFamily="2" charset="-127"/>
          <a:ea typeface="KoPubWorld돋움체 Medium" panose="00000600000000000000" pitchFamily="2" charset="-127"/>
          <a:cs typeface="KoPubWorld돋움체 Medium" panose="00000600000000000000" pitchFamily="2" charset="-127"/>
        </a:defRPr>
      </a:lvl4pPr>
      <a:lvl5pPr marL="1389063" indent="-212725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lang="ko-KR" altLang="en-US" sz="1800" kern="1200" spc="-100" baseline="0" dirty="0">
          <a:solidFill>
            <a:schemeClr val="tx1"/>
          </a:solidFill>
          <a:latin typeface="KoPubWorld돋움체 Medium" panose="00000600000000000000" pitchFamily="2" charset="-127"/>
          <a:ea typeface="KoPubWorld돋움체 Medium" panose="00000600000000000000" pitchFamily="2" charset="-127"/>
          <a:cs typeface="KoPubWorld돋움체 Medium" panose="00000600000000000000" pitchFamily="2" charset="-127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D699A563-493A-4855-BA34-D86751DE6F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개별과제</a:t>
            </a:r>
            <a:r>
              <a:rPr lang="en-US" altLang="ko-KR" dirty="0"/>
              <a:t>: </a:t>
            </a:r>
            <a:r>
              <a:rPr lang="ko-KR" altLang="en-US" dirty="0"/>
              <a:t>빅데이터 분석</a:t>
            </a:r>
            <a:endParaRPr lang="en-US" dirty="0"/>
          </a:p>
        </p:txBody>
      </p:sp>
      <p:sp>
        <p:nvSpPr>
          <p:cNvPr id="2" name="부제목 1">
            <a:extLst>
              <a:ext uri="{FF2B5EF4-FFF2-40B4-BE49-F238E27FC236}">
                <a16:creationId xmlns:a16="http://schemas.microsoft.com/office/drawing/2014/main" id="{CD7FF4FE-4651-4A60-BB28-818262A8740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컴퓨터</a:t>
            </a:r>
            <a:r>
              <a:rPr lang="en-US" altLang="ko-KR" dirty="0"/>
              <a:t>AI</a:t>
            </a:r>
            <a:r>
              <a:rPr lang="ko-KR" altLang="en-US" dirty="0"/>
              <a:t>공학부</a:t>
            </a:r>
            <a:endParaRPr lang="en-US" altLang="ko-KR" dirty="0"/>
          </a:p>
          <a:p>
            <a:r>
              <a:rPr lang="ko-KR" altLang="en-US" dirty="0"/>
              <a:t>천세진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0459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다양한 데이터소스</a:t>
            </a:r>
            <a:r>
              <a:rPr lang="en-US" altLang="ko-KR" dirty="0"/>
              <a:t>(</a:t>
            </a:r>
            <a:r>
              <a:rPr lang="ko-KR" altLang="en-US" dirty="0"/>
              <a:t>비디오</a:t>
            </a:r>
            <a:r>
              <a:rPr lang="en-US" altLang="ko-KR" dirty="0"/>
              <a:t>, </a:t>
            </a:r>
            <a:r>
              <a:rPr lang="ko-KR" altLang="en-US"/>
              <a:t>소셜미디어 스트림 등</a:t>
            </a:r>
            <a:r>
              <a:rPr lang="en-US" altLang="ko-KR"/>
              <a:t>)</a:t>
            </a:r>
            <a:r>
              <a:rPr lang="ko-KR" altLang="en-US" dirty="0"/>
              <a:t>로부터 실시간 데이터 처리하는 기법에 대한 단계별 과제 학습</a:t>
            </a:r>
            <a:endParaRPr lang="en-US" altLang="ko-KR" dirty="0"/>
          </a:p>
          <a:p>
            <a:r>
              <a:rPr lang="ko-KR" altLang="en-US" dirty="0"/>
              <a:t>수집 → 스트리밍 </a:t>
            </a:r>
            <a:r>
              <a:rPr lang="en-US" altLang="ko-KR" dirty="0"/>
              <a:t>ETL → </a:t>
            </a:r>
            <a:r>
              <a:rPr lang="ko-KR" altLang="en-US" dirty="0"/>
              <a:t>피처</a:t>
            </a:r>
            <a:r>
              <a:rPr lang="en-US" altLang="ko-KR" dirty="0"/>
              <a:t>/</a:t>
            </a:r>
            <a:r>
              <a:rPr lang="ko-KR" altLang="en-US" dirty="0"/>
              <a:t>라벨 → 모델선정 → 실시간 서비스에 대한 이해</a:t>
            </a:r>
            <a:endParaRPr lang="en-US" altLang="ko-KR" dirty="0"/>
          </a:p>
          <a:p>
            <a:pPr lvl="1"/>
            <a:r>
              <a:rPr lang="ko-KR" altLang="en-US" dirty="0"/>
              <a:t>개별 코드 </a:t>
            </a:r>
            <a:r>
              <a:rPr lang="ko-KR" altLang="en-US" dirty="0" err="1"/>
              <a:t>스니펫을</a:t>
            </a:r>
            <a:r>
              <a:rPr lang="ko-KR" altLang="en-US" dirty="0"/>
              <a:t> 제공함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2EF5A-E95E-4411-9976-253A83E02D3F}" type="slidenum">
              <a:rPr lang="ko-KR" altLang="en-US" smtClean="0"/>
              <a:pPr/>
              <a:t>2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과제 목표</a:t>
            </a:r>
          </a:p>
        </p:txBody>
      </p:sp>
    </p:spTree>
    <p:extLst>
      <p:ext uri="{BB962C8B-B14F-4D97-AF65-F5344CB8AC3E}">
        <p14:creationId xmlns:p14="http://schemas.microsoft.com/office/powerpoint/2010/main" val="1575158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EB49E-C5AB-C272-1F68-EFB6EFF8D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D87A86F8-BED0-0386-32A6-190F4A8858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/>
              <a:t>핵심 목표</a:t>
            </a:r>
            <a:r>
              <a:rPr lang="en-US" altLang="ko-KR" dirty="0"/>
              <a:t>: API → </a:t>
            </a:r>
            <a:r>
              <a:rPr lang="ko-KR" altLang="en-US" dirty="0"/>
              <a:t>원본 보존</a:t>
            </a:r>
            <a:r>
              <a:rPr lang="en-US" altLang="ko-KR" dirty="0"/>
              <a:t>(</a:t>
            </a:r>
            <a:r>
              <a:rPr lang="ko-KR" altLang="en-US" dirty="0"/>
              <a:t>스키마 고정</a:t>
            </a:r>
            <a:r>
              <a:rPr lang="en-US" altLang="ko-KR" dirty="0"/>
              <a:t>, </a:t>
            </a:r>
            <a:r>
              <a:rPr lang="ko-KR" altLang="en-US" dirty="0"/>
              <a:t>증분 수집</a:t>
            </a:r>
            <a:r>
              <a:rPr lang="en-US" altLang="ko-KR" dirty="0"/>
              <a:t>), </a:t>
            </a:r>
            <a:r>
              <a:rPr lang="ko-KR" altLang="en-US" dirty="0"/>
              <a:t>희소</a:t>
            </a:r>
            <a:r>
              <a:rPr lang="en-US" altLang="ko-KR" dirty="0"/>
              <a:t>/</a:t>
            </a:r>
            <a:r>
              <a:rPr lang="ko-KR" altLang="en-US" dirty="0"/>
              <a:t>폭증 구간 대응을 위해 </a:t>
            </a:r>
            <a:r>
              <a:rPr lang="en-US" altLang="ko-KR" dirty="0"/>
              <a:t>reservoir sampling</a:t>
            </a:r>
            <a:r>
              <a:rPr lang="ko-KR" altLang="en-US" dirty="0"/>
              <a:t> 적용</a:t>
            </a:r>
            <a:endParaRPr lang="en-US" altLang="ko-KR" dirty="0"/>
          </a:p>
          <a:p>
            <a:pPr lvl="1"/>
            <a:r>
              <a:rPr lang="ko-KR" altLang="en-US" dirty="0"/>
              <a:t>삽입 포인트 </a:t>
            </a:r>
            <a:r>
              <a:rPr lang="en-US" altLang="ko-KR" dirty="0"/>
              <a:t>A — Reservoir Sampling (</a:t>
            </a:r>
            <a:r>
              <a:rPr lang="ko-KR" altLang="en-US" dirty="0"/>
              <a:t>스트리밍 전 단계의 대표 샘플 확보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dirty="0"/>
              <a:t>목적</a:t>
            </a:r>
            <a:r>
              <a:rPr lang="en-US" altLang="ko-KR" dirty="0"/>
              <a:t>: API </a:t>
            </a:r>
            <a:r>
              <a:rPr lang="ko-KR" altLang="en-US" dirty="0"/>
              <a:t>폭증 시 전수 저장 전 점검</a:t>
            </a:r>
            <a:r>
              <a:rPr lang="en-US" altLang="ko-KR" dirty="0"/>
              <a:t>/</a:t>
            </a:r>
            <a:r>
              <a:rPr lang="ko-KR" altLang="en-US" dirty="0"/>
              <a:t>데이터 프로파일링용 대표 샘플을 저비용으로 유지</a:t>
            </a:r>
          </a:p>
          <a:p>
            <a:pPr lvl="2"/>
            <a:r>
              <a:rPr lang="ko-KR" altLang="en-US" dirty="0"/>
              <a:t>방법</a:t>
            </a:r>
            <a:r>
              <a:rPr lang="en-US" altLang="ko-KR" dirty="0"/>
              <a:t>: </a:t>
            </a:r>
            <a:r>
              <a:rPr lang="ko-KR" altLang="en-US" dirty="0"/>
              <a:t>각 쿼리</a:t>
            </a:r>
            <a:r>
              <a:rPr lang="en-US" altLang="ko-KR" dirty="0"/>
              <a:t>/</a:t>
            </a:r>
            <a:r>
              <a:rPr lang="ko-KR" altLang="en-US" dirty="0"/>
              <a:t>키워드별로 크기 </a:t>
            </a:r>
            <a:r>
              <a:rPr lang="en-US" altLang="ko-KR" dirty="0"/>
              <a:t>k</a:t>
            </a:r>
            <a:r>
              <a:rPr lang="ko-KR" altLang="en-US" dirty="0"/>
              <a:t>의 저장소 유지 </a:t>
            </a:r>
            <a:r>
              <a:rPr lang="en-US" altLang="ko-KR" dirty="0"/>
              <a:t>(Vitter’s Algorithm R)</a:t>
            </a:r>
          </a:p>
          <a:p>
            <a:pPr lvl="1"/>
            <a:r>
              <a:rPr lang="ko-KR" altLang="en-US" dirty="0"/>
              <a:t>삽입 포인트 </a:t>
            </a:r>
            <a:r>
              <a:rPr lang="en-US" altLang="ko-KR" dirty="0"/>
              <a:t>B — Bloom Filter(</a:t>
            </a:r>
            <a:r>
              <a:rPr lang="ko-KR" altLang="en-US" dirty="0"/>
              <a:t>원본 중복 방지의 </a:t>
            </a:r>
            <a:r>
              <a:rPr lang="en-US" altLang="ko-KR" dirty="0"/>
              <a:t>1</a:t>
            </a:r>
            <a:r>
              <a:rPr lang="ko-KR" altLang="en-US" dirty="0"/>
              <a:t>차 게이트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dirty="0"/>
              <a:t>목적</a:t>
            </a:r>
            <a:r>
              <a:rPr lang="en-US" altLang="ko-KR" dirty="0"/>
              <a:t>: API</a:t>
            </a:r>
            <a:r>
              <a:rPr lang="ko-KR" altLang="en-US" dirty="0"/>
              <a:t>가 중복 </a:t>
            </a:r>
            <a:r>
              <a:rPr lang="en-US" altLang="ko-KR" dirty="0" err="1"/>
              <a:t>video_id</a:t>
            </a:r>
            <a:r>
              <a:rPr lang="en-US" altLang="ko-KR" dirty="0"/>
              <a:t>/</a:t>
            </a:r>
            <a:r>
              <a:rPr lang="en-US" altLang="ko-KR" dirty="0" err="1"/>
              <a:t>post_id</a:t>
            </a:r>
            <a:r>
              <a:rPr lang="ko-KR" altLang="en-US" dirty="0"/>
              <a:t>를 자주 반환하는 경우</a:t>
            </a:r>
            <a:r>
              <a:rPr lang="en-US" altLang="ko-KR" dirty="0"/>
              <a:t>, </a:t>
            </a:r>
            <a:r>
              <a:rPr lang="ko-KR" altLang="en-US" dirty="0"/>
              <a:t>저장</a:t>
            </a:r>
            <a:r>
              <a:rPr lang="en-US" altLang="ko-KR" dirty="0"/>
              <a:t>/</a:t>
            </a:r>
            <a:r>
              <a:rPr lang="ko-KR" altLang="en-US" dirty="0"/>
              <a:t>조인 비용 절감</a:t>
            </a:r>
            <a:endParaRPr lang="en-US" altLang="ko-KR" dirty="0"/>
          </a:p>
          <a:p>
            <a:pPr lvl="2"/>
            <a:r>
              <a:rPr lang="ko-KR" altLang="en-US" dirty="0"/>
              <a:t>방법</a:t>
            </a:r>
            <a:r>
              <a:rPr lang="en-US" altLang="ko-KR" dirty="0"/>
              <a:t>: </a:t>
            </a:r>
            <a:r>
              <a:rPr lang="ko-KR" altLang="en-US" dirty="0"/>
              <a:t>최근 </a:t>
            </a:r>
            <a:r>
              <a:rPr lang="en-US" altLang="ko-KR" dirty="0"/>
              <a:t>7</a:t>
            </a:r>
            <a:r>
              <a:rPr lang="ko-KR" altLang="en-US" dirty="0"/>
              <a:t>일의 </a:t>
            </a:r>
            <a:r>
              <a:rPr lang="en-US" altLang="ko-KR" dirty="0"/>
              <a:t>ID</a:t>
            </a:r>
            <a:r>
              <a:rPr lang="ko-KR" altLang="en-US" dirty="0"/>
              <a:t>를 집계해 </a:t>
            </a:r>
            <a:r>
              <a:rPr lang="en-US" altLang="ko-KR" dirty="0"/>
              <a:t>Bloom filter </a:t>
            </a:r>
            <a:r>
              <a:rPr lang="ko-KR" altLang="en-US" dirty="0"/>
              <a:t>생성 → </a:t>
            </a:r>
            <a:r>
              <a:rPr lang="ko-KR" altLang="en-US" dirty="0" err="1"/>
              <a:t>인입</a:t>
            </a:r>
            <a:r>
              <a:rPr lang="ko-KR" altLang="en-US" dirty="0"/>
              <a:t> 시 </a:t>
            </a:r>
            <a:r>
              <a:rPr lang="en-US" altLang="ko-KR" dirty="0" err="1"/>
              <a:t>might_contain</a:t>
            </a:r>
            <a:r>
              <a:rPr lang="ko-KR" altLang="en-US" dirty="0"/>
              <a:t>으로 빠른 배제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B79F10E-9548-FDED-A679-B37A7EBE7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2EF5A-E95E-4411-9976-253A83E02D3F}" type="slidenum">
              <a:rPr lang="ko-KR" altLang="en-US" smtClean="0"/>
              <a:pPr/>
              <a:t>3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142B277-4B03-0F80-6BB5-E9FC18207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과제</a:t>
            </a:r>
            <a:r>
              <a:rPr lang="en-US" altLang="ko-KR" dirty="0"/>
              <a:t>. </a:t>
            </a:r>
            <a:r>
              <a:rPr lang="ko-KR" altLang="en-US" dirty="0"/>
              <a:t>멀티 소스 수집 </a:t>
            </a:r>
            <a:r>
              <a:rPr lang="en-US" altLang="ko-KR" dirty="0"/>
              <a:t>&amp; </a:t>
            </a:r>
            <a:r>
              <a:rPr lang="ko-KR" altLang="en-US" dirty="0"/>
              <a:t>배치 </a:t>
            </a:r>
            <a:r>
              <a:rPr lang="en-US" altLang="ko-KR" dirty="0"/>
              <a:t>ETL (Bronze)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319067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AB196-C039-1672-8755-49FB73ABE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F29FF538-5750-5849-B22F-753D476AEB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핵심 목표</a:t>
            </a:r>
            <a:r>
              <a:rPr lang="en-US" altLang="ko-KR" dirty="0"/>
              <a:t>: Sliding Window + Watermark</a:t>
            </a:r>
            <a:r>
              <a:rPr lang="ko-KR" altLang="en-US" dirty="0"/>
              <a:t>로 지연 이벤트 처리</a:t>
            </a:r>
            <a:r>
              <a:rPr lang="en-US" altLang="ko-KR" dirty="0"/>
              <a:t>, </a:t>
            </a:r>
            <a:r>
              <a:rPr lang="ko-KR" altLang="en-US" dirty="0"/>
              <a:t>중복 제거</a:t>
            </a:r>
            <a:endParaRPr lang="en-US" altLang="ko-KR" dirty="0"/>
          </a:p>
          <a:p>
            <a:pPr lvl="1"/>
            <a:r>
              <a:rPr lang="ko-KR" altLang="en-US" dirty="0"/>
              <a:t>삽입 포인트 </a:t>
            </a:r>
            <a:r>
              <a:rPr lang="en-US" altLang="ko-KR" dirty="0"/>
              <a:t>C — Sliding Window &amp; Watermark</a:t>
            </a:r>
          </a:p>
          <a:p>
            <a:pPr lvl="2"/>
            <a:r>
              <a:rPr lang="ko-KR" altLang="en-US" dirty="0"/>
              <a:t>목적</a:t>
            </a:r>
            <a:r>
              <a:rPr lang="en-US" altLang="ko-KR" dirty="0"/>
              <a:t>: </a:t>
            </a:r>
            <a:r>
              <a:rPr lang="ko-KR" altLang="en-US" dirty="0"/>
              <a:t>실시간 지표</a:t>
            </a:r>
            <a:r>
              <a:rPr lang="en-US" altLang="ko-KR" dirty="0"/>
              <a:t>(1h </a:t>
            </a:r>
            <a:r>
              <a:rPr lang="ko-KR" altLang="en-US" dirty="0"/>
              <a:t>윈도우</a:t>
            </a:r>
            <a:r>
              <a:rPr lang="en-US" altLang="ko-KR" dirty="0"/>
              <a:t>/5m </a:t>
            </a:r>
            <a:r>
              <a:rPr lang="ko-KR" altLang="en-US" dirty="0"/>
              <a:t>슬라이드</a:t>
            </a:r>
            <a:r>
              <a:rPr lang="en-US" altLang="ko-KR" dirty="0"/>
              <a:t>), </a:t>
            </a:r>
            <a:r>
              <a:rPr lang="ko-KR" altLang="en-US" dirty="0"/>
              <a:t>지연 이벤트 허용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10</a:t>
            </a:r>
            <a:r>
              <a:rPr lang="ko-KR" altLang="en-US" dirty="0"/>
              <a:t>분</a:t>
            </a:r>
            <a:r>
              <a:rPr lang="en-US" altLang="ko-KR" dirty="0"/>
              <a:t>) + </a:t>
            </a:r>
            <a:r>
              <a:rPr lang="ko-KR" altLang="en-US" dirty="0"/>
              <a:t>정확한 중복 제</a:t>
            </a:r>
            <a:endParaRPr lang="en-US" altLang="ko-KR" dirty="0"/>
          </a:p>
          <a:p>
            <a:pPr lvl="2"/>
            <a:r>
              <a:rPr lang="ko-KR" altLang="en-US" dirty="0" err="1"/>
              <a:t>거방법</a:t>
            </a:r>
            <a:r>
              <a:rPr lang="en-US" altLang="ko-KR" dirty="0"/>
              <a:t>: </a:t>
            </a:r>
            <a:r>
              <a:rPr lang="en-US" altLang="ko-KR" dirty="0" err="1"/>
              <a:t>withWatermark</a:t>
            </a:r>
            <a:r>
              <a:rPr lang="ko-KR" altLang="en-US" dirty="0"/>
              <a:t>로 이벤트 시간 기준 허용 지연 설정 → </a:t>
            </a:r>
            <a:r>
              <a:rPr lang="en-US" altLang="ko-KR" dirty="0"/>
              <a:t>window('1 hour','5 minutes')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52ED3DB-8FF6-A541-9FA7-7002A7A99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2EF5A-E95E-4411-9976-253A83E02D3F}" type="slidenum">
              <a:rPr lang="ko-KR" altLang="en-US" smtClean="0"/>
              <a:pPr/>
              <a:t>4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0875C36A-C1DD-EF6F-D52B-9A2AFBA0C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과제</a:t>
            </a:r>
            <a:r>
              <a:rPr lang="en-US" altLang="ko-KR" dirty="0"/>
              <a:t>. </a:t>
            </a:r>
            <a:r>
              <a:rPr lang="ko-KR" altLang="en-US" dirty="0"/>
              <a:t>구조화 </a:t>
            </a:r>
            <a:r>
              <a:rPr lang="en-US" altLang="ko-KR" dirty="0"/>
              <a:t>&amp; </a:t>
            </a:r>
            <a:r>
              <a:rPr lang="ko-KR" altLang="en-US" dirty="0"/>
              <a:t>정제 스트리밍 </a:t>
            </a:r>
            <a:r>
              <a:rPr lang="en-US" altLang="ko-KR" dirty="0"/>
              <a:t>(Silver)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18595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79CFD-0EF7-4D97-65D6-1A03283B6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D617BDA2-8B2A-69F6-AB53-8BB746B219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핵심 목표</a:t>
            </a:r>
            <a:r>
              <a:rPr lang="en-US" altLang="ko-KR" dirty="0"/>
              <a:t>: </a:t>
            </a:r>
            <a:r>
              <a:rPr lang="ko-KR" altLang="en-US" dirty="0"/>
              <a:t>영상</a:t>
            </a:r>
            <a:r>
              <a:rPr lang="en-US" altLang="ko-KR" dirty="0"/>
              <a:t>+</a:t>
            </a:r>
            <a:r>
              <a:rPr lang="ko-KR" altLang="en-US" dirty="0"/>
              <a:t>소셜 조인</a:t>
            </a:r>
            <a:r>
              <a:rPr lang="en-US" altLang="ko-KR" dirty="0"/>
              <a:t>, </a:t>
            </a:r>
            <a:r>
              <a:rPr lang="en-US" altLang="ko-KR" dirty="0" err="1"/>
              <a:t>Flajolet</a:t>
            </a:r>
            <a:r>
              <a:rPr lang="en-US" altLang="ko-KR" dirty="0"/>
              <a:t>–Martin </a:t>
            </a:r>
            <a:r>
              <a:rPr lang="ko-KR" altLang="en-US" dirty="0"/>
              <a:t>계열 근사</a:t>
            </a:r>
            <a:r>
              <a:rPr lang="en-US" altLang="ko-KR" dirty="0"/>
              <a:t>, CDF/PDF</a:t>
            </a:r>
            <a:r>
              <a:rPr lang="ko-KR" altLang="en-US" dirty="0"/>
              <a:t>로 임계치 도출</a:t>
            </a:r>
            <a:endParaRPr lang="en-US" altLang="ko-KR" dirty="0"/>
          </a:p>
          <a:p>
            <a:pPr lvl="1"/>
            <a:r>
              <a:rPr lang="ko-KR" altLang="en-US" dirty="0"/>
              <a:t>삽입 포인트 </a:t>
            </a:r>
            <a:r>
              <a:rPr lang="en-US" altLang="ko-KR" dirty="0"/>
              <a:t>D — </a:t>
            </a:r>
            <a:r>
              <a:rPr lang="en-US" altLang="ko-KR" dirty="0" err="1"/>
              <a:t>Flajolet</a:t>
            </a:r>
            <a:r>
              <a:rPr lang="en-US" altLang="ko-KR" dirty="0"/>
              <a:t>–Martin(</a:t>
            </a:r>
            <a:r>
              <a:rPr lang="ko-KR" altLang="en-US" dirty="0"/>
              <a:t>근사 유니크 카운트</a:t>
            </a:r>
            <a:r>
              <a:rPr lang="en-US" altLang="ko-KR" dirty="0"/>
              <a:t>) / HLL++</a:t>
            </a:r>
          </a:p>
          <a:p>
            <a:pPr lvl="2"/>
            <a:r>
              <a:rPr lang="ko-KR" altLang="en-US" dirty="0"/>
              <a:t>목적</a:t>
            </a:r>
            <a:r>
              <a:rPr lang="en-US" altLang="ko-KR" dirty="0"/>
              <a:t>: </a:t>
            </a:r>
            <a:r>
              <a:rPr lang="ko-KR" altLang="en-US" dirty="0"/>
              <a:t>거대 스트림에서 고유 사용자 수를 가볍게 추정</a:t>
            </a:r>
            <a:endParaRPr lang="en-US" altLang="ko-KR" dirty="0"/>
          </a:p>
          <a:p>
            <a:pPr lvl="2"/>
            <a:r>
              <a:rPr lang="en-US" altLang="ko-KR" dirty="0"/>
              <a:t>Spark </a:t>
            </a:r>
            <a:r>
              <a:rPr lang="ko-KR" altLang="en-US" dirty="0"/>
              <a:t>내장</a:t>
            </a:r>
            <a:r>
              <a:rPr lang="en-US" altLang="ko-KR" dirty="0"/>
              <a:t>: </a:t>
            </a:r>
            <a:r>
              <a:rPr lang="en-US" altLang="ko-KR" dirty="0" err="1"/>
              <a:t>approx_count_distinct</a:t>
            </a:r>
            <a:r>
              <a:rPr lang="en-US" altLang="ko-KR" dirty="0"/>
              <a:t>(col)(HLL++, FM </a:t>
            </a:r>
            <a:r>
              <a:rPr lang="ko-KR" altLang="en-US" dirty="0"/>
              <a:t>계열 아이디어</a:t>
            </a:r>
            <a:r>
              <a:rPr lang="en-US" altLang="ko-KR" dirty="0"/>
              <a:t>)</a:t>
            </a:r>
            <a:r>
              <a:rPr lang="ko-KR" altLang="en-US" dirty="0"/>
              <a:t>로 대체 가능</a:t>
            </a:r>
            <a:endParaRPr lang="en-US" altLang="ko-KR" dirty="0"/>
          </a:p>
          <a:p>
            <a:pPr lvl="1"/>
            <a:r>
              <a:rPr lang="ko-KR" altLang="en-US" dirty="0"/>
              <a:t>삽입 포인트 </a:t>
            </a:r>
            <a:r>
              <a:rPr lang="en-US" altLang="ko-KR" dirty="0"/>
              <a:t>E — </a:t>
            </a:r>
            <a:r>
              <a:rPr lang="ko-KR" altLang="en-US" dirty="0"/>
              <a:t>경험적 </a:t>
            </a:r>
            <a:r>
              <a:rPr lang="en-US" altLang="ko-KR" dirty="0"/>
              <a:t>PDF/CDF </a:t>
            </a:r>
            <a:r>
              <a:rPr lang="ko-KR" altLang="en-US" dirty="0"/>
              <a:t>기반 </a:t>
            </a:r>
            <a:r>
              <a:rPr lang="ko-KR" altLang="en-US" dirty="0" err="1"/>
              <a:t>라벨링</a:t>
            </a:r>
            <a:r>
              <a:rPr lang="en-US" altLang="ko-KR" dirty="0"/>
              <a:t>(</a:t>
            </a:r>
            <a:r>
              <a:rPr lang="ko-KR" altLang="en-US" dirty="0"/>
              <a:t>상위 </a:t>
            </a:r>
            <a:r>
              <a:rPr lang="en-US" altLang="ko-KR" dirty="0"/>
              <a:t>p% </a:t>
            </a:r>
            <a:r>
              <a:rPr lang="ko-KR" altLang="en-US" dirty="0"/>
              <a:t>구분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dirty="0"/>
              <a:t>목적</a:t>
            </a:r>
            <a:r>
              <a:rPr lang="en-US" altLang="ko-KR" dirty="0"/>
              <a:t>: “</a:t>
            </a:r>
            <a:r>
              <a:rPr lang="ko-KR" altLang="en-US" dirty="0"/>
              <a:t>고성능</a:t>
            </a:r>
            <a:r>
              <a:rPr lang="en-US" altLang="ko-KR" dirty="0"/>
              <a:t>(</a:t>
            </a:r>
            <a:r>
              <a:rPr lang="ko-KR" altLang="en-US" dirty="0"/>
              <a:t>상위 </a:t>
            </a:r>
            <a:r>
              <a:rPr lang="en-US" altLang="ko-KR" dirty="0"/>
              <a:t>10%)” </a:t>
            </a:r>
            <a:r>
              <a:rPr lang="ko-KR" altLang="en-US" dirty="0"/>
              <a:t>라벨을 </a:t>
            </a:r>
            <a:r>
              <a:rPr lang="ko-KR" altLang="en-US" b="1" dirty="0"/>
              <a:t>데이터 분포</a:t>
            </a:r>
            <a:r>
              <a:rPr lang="en-US" altLang="ko-KR" b="1" dirty="0"/>
              <a:t>(CDF) </a:t>
            </a:r>
            <a:r>
              <a:rPr lang="ko-KR" altLang="en-US" dirty="0"/>
              <a:t>로 동적으로 결정</a:t>
            </a:r>
            <a:endParaRPr lang="en-US" altLang="ko-KR" dirty="0"/>
          </a:p>
          <a:p>
            <a:pPr lvl="2"/>
            <a:r>
              <a:rPr lang="ko-KR" altLang="en-US" dirty="0"/>
              <a:t>방법</a:t>
            </a:r>
            <a:r>
              <a:rPr lang="en-US" altLang="ko-KR" dirty="0"/>
              <a:t>: (</a:t>
            </a:r>
            <a:r>
              <a:rPr lang="ko-KR" altLang="en-US" dirty="0"/>
              <a:t>배치</a:t>
            </a:r>
            <a:r>
              <a:rPr lang="en-US" altLang="ko-KR" dirty="0"/>
              <a:t>/</a:t>
            </a:r>
            <a:r>
              <a:rPr lang="ko-KR" altLang="en-US" dirty="0" err="1"/>
              <a:t>마이크로배치</a:t>
            </a:r>
            <a:r>
              <a:rPr lang="en-US" altLang="ko-KR" dirty="0"/>
              <a:t>) </a:t>
            </a:r>
            <a:r>
              <a:rPr lang="ko-KR" altLang="en-US" dirty="0"/>
              <a:t>히스토그램→</a:t>
            </a:r>
            <a:r>
              <a:rPr lang="en-US" altLang="ko-KR" dirty="0"/>
              <a:t>PDF </a:t>
            </a:r>
            <a:r>
              <a:rPr lang="ko-KR" altLang="en-US" dirty="0"/>
              <a:t>추정</a:t>
            </a:r>
            <a:r>
              <a:rPr lang="en-US" altLang="ko-KR" dirty="0"/>
              <a:t>, </a:t>
            </a:r>
            <a:r>
              <a:rPr lang="ko-KR" altLang="en-US" dirty="0" err="1"/>
              <a:t>누적합</a:t>
            </a:r>
            <a:r>
              <a:rPr lang="ko-KR" altLang="en-US" dirty="0"/>
              <a:t>→</a:t>
            </a:r>
            <a:r>
              <a:rPr lang="en-US" altLang="ko-KR" dirty="0"/>
              <a:t>CDF, </a:t>
            </a:r>
            <a:r>
              <a:rPr lang="ko-KR" altLang="en-US" dirty="0"/>
              <a:t>상위 </a:t>
            </a:r>
            <a:r>
              <a:rPr lang="en-US" altLang="ko-KR" dirty="0"/>
              <a:t>p% </a:t>
            </a:r>
            <a:r>
              <a:rPr lang="ko-KR" altLang="en-US" dirty="0"/>
              <a:t>컷오프 산출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7F1E573-2797-D256-9835-A317179D6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2EF5A-E95E-4411-9976-253A83E02D3F}" type="slidenum">
              <a:rPr lang="ko-KR" altLang="en-US" smtClean="0"/>
              <a:pPr/>
              <a:t>5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859A45D-44BD-9EC0-0DD3-D77F0C85A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ko-KR" altLang="en-US" dirty="0"/>
              <a:t>과제</a:t>
            </a:r>
            <a:r>
              <a:rPr lang="en-US" altLang="ko-KR" dirty="0"/>
              <a:t>. </a:t>
            </a:r>
            <a:r>
              <a:rPr lang="ko-KR" altLang="en-US" dirty="0"/>
              <a:t>피처 엔지니어링 </a:t>
            </a:r>
            <a:r>
              <a:rPr lang="en-US" altLang="ko-KR" dirty="0"/>
              <a:t>&amp; </a:t>
            </a:r>
            <a:r>
              <a:rPr lang="ko-KR" altLang="en-US" dirty="0"/>
              <a:t>준실시간 </a:t>
            </a:r>
            <a:r>
              <a:rPr lang="ko-KR" altLang="en-US" dirty="0" err="1"/>
              <a:t>라벨링</a:t>
            </a:r>
            <a:r>
              <a:rPr lang="ko-KR" altLang="en-US" dirty="0"/>
              <a:t> </a:t>
            </a:r>
            <a:r>
              <a:rPr lang="en-US" altLang="ko-KR" dirty="0"/>
              <a:t>(Gold/Features)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19441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B4E6B-E924-D626-DDD4-36E81559B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3355B767-E391-962D-F29A-082B3518DE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핵심 목표</a:t>
            </a:r>
            <a:r>
              <a:rPr lang="en-US" altLang="ko-KR" dirty="0"/>
              <a:t>: </a:t>
            </a:r>
            <a:r>
              <a:rPr lang="ko-KR" altLang="en-US" dirty="0"/>
              <a:t>다목적 최적화</a:t>
            </a:r>
            <a:r>
              <a:rPr lang="en-US" altLang="ko-KR" dirty="0"/>
              <a:t>(</a:t>
            </a:r>
            <a:r>
              <a:rPr lang="ko-KR" altLang="en-US" dirty="0"/>
              <a:t>성능</a:t>
            </a:r>
            <a:r>
              <a:rPr lang="en-US" altLang="ko-KR" dirty="0"/>
              <a:t>, </a:t>
            </a:r>
            <a:r>
              <a:rPr lang="ko-KR" altLang="en-US" dirty="0"/>
              <a:t>지연</a:t>
            </a:r>
            <a:r>
              <a:rPr lang="en-US" altLang="ko-KR" dirty="0"/>
              <a:t>, </a:t>
            </a:r>
            <a:r>
              <a:rPr lang="ko-KR" altLang="en-US" dirty="0" err="1"/>
              <a:t>해석성</a:t>
            </a:r>
            <a:r>
              <a:rPr lang="ko-KR" altLang="en-US" dirty="0"/>
              <a:t> 등</a:t>
            </a:r>
            <a:r>
              <a:rPr lang="en-US" altLang="ko-KR" dirty="0"/>
              <a:t>)</a:t>
            </a:r>
            <a:r>
              <a:rPr lang="ko-KR" altLang="en-US" dirty="0"/>
              <a:t>에서 파레토 전선으로 베스트 후보 자동 선택</a:t>
            </a:r>
            <a:endParaRPr lang="en-US" altLang="ko-KR" dirty="0"/>
          </a:p>
          <a:p>
            <a:pPr lvl="1"/>
            <a:r>
              <a:rPr lang="ko-KR" altLang="en-US" dirty="0"/>
              <a:t>삽입 포인트 </a:t>
            </a:r>
            <a:r>
              <a:rPr lang="en-US" altLang="ko-KR" dirty="0"/>
              <a:t>F — Pareto Front (</a:t>
            </a:r>
            <a:r>
              <a:rPr lang="ko-KR" altLang="en-US" dirty="0"/>
              <a:t>성능</a:t>
            </a:r>
            <a:r>
              <a:rPr lang="en-US" altLang="ko-KR" dirty="0"/>
              <a:t>-</a:t>
            </a:r>
            <a:r>
              <a:rPr lang="ko-KR" altLang="en-US" dirty="0"/>
              <a:t>지연</a:t>
            </a:r>
            <a:r>
              <a:rPr lang="en-US" altLang="ko-KR" dirty="0"/>
              <a:t>-</a:t>
            </a:r>
            <a:r>
              <a:rPr lang="ko-KR" altLang="en-US" dirty="0"/>
              <a:t>비용 다목적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dirty="0"/>
              <a:t>목적</a:t>
            </a:r>
            <a:r>
              <a:rPr lang="en-US" altLang="ko-KR" dirty="0"/>
              <a:t>: AUC(↑), </a:t>
            </a:r>
            <a:r>
              <a:rPr lang="ko-KR" altLang="en-US" dirty="0"/>
              <a:t>추론지연</a:t>
            </a:r>
            <a:r>
              <a:rPr lang="en-US" altLang="ko-KR" dirty="0"/>
              <a:t>(</a:t>
            </a:r>
            <a:r>
              <a:rPr lang="en-US" altLang="ko-KR" dirty="0" err="1"/>
              <a:t>ms</a:t>
            </a:r>
            <a:r>
              <a:rPr lang="en-US" altLang="ko-KR" dirty="0"/>
              <a:t>, ↓), </a:t>
            </a:r>
            <a:r>
              <a:rPr lang="ko-KR" altLang="en-US" dirty="0" err="1"/>
              <a:t>피처수</a:t>
            </a:r>
            <a:r>
              <a:rPr lang="en-US" altLang="ko-KR" dirty="0"/>
              <a:t>(↓) </a:t>
            </a:r>
            <a:r>
              <a:rPr lang="ko-KR" altLang="en-US" dirty="0"/>
              <a:t>등 상충 목표를 동시에 고려</a:t>
            </a:r>
            <a:endParaRPr lang="en-US" altLang="ko-KR" dirty="0"/>
          </a:p>
          <a:p>
            <a:pPr lvl="2"/>
            <a:r>
              <a:rPr lang="ko-KR" altLang="en-US" dirty="0"/>
              <a:t>방법</a:t>
            </a:r>
            <a:r>
              <a:rPr lang="en-US" altLang="ko-KR" dirty="0"/>
              <a:t>: </a:t>
            </a:r>
            <a:r>
              <a:rPr lang="ko-KR" altLang="en-US" dirty="0"/>
              <a:t>각 후보 모델의 지표 벡터에 대해 지배관계 비교로 </a:t>
            </a:r>
            <a:r>
              <a:rPr lang="en-US" altLang="ko-KR" dirty="0"/>
              <a:t>Pareto Front </a:t>
            </a:r>
            <a:r>
              <a:rPr lang="ko-KR" altLang="en-US" dirty="0"/>
              <a:t>추출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A4CA3CA-B8B3-3D3D-D15C-7E80C5059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2EF5A-E95E-4411-9976-253A83E02D3F}" type="slidenum">
              <a:rPr lang="ko-KR" altLang="en-US" smtClean="0"/>
              <a:pPr/>
              <a:t>6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FCD65EA8-BC3B-C6AE-2B6E-1C4557E47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</a:t>
            </a:r>
            <a:r>
              <a:rPr lang="ko-KR" altLang="en-US" dirty="0"/>
              <a:t>과제</a:t>
            </a:r>
            <a:r>
              <a:rPr lang="en-US" altLang="ko-KR" dirty="0"/>
              <a:t>. </a:t>
            </a:r>
            <a:r>
              <a:rPr lang="ko-KR" altLang="en-US" dirty="0"/>
              <a:t>다수 알고리즘 벤치마킹 </a:t>
            </a:r>
            <a:r>
              <a:rPr lang="en-US" altLang="ko-KR" dirty="0"/>
              <a:t>&amp; </a:t>
            </a:r>
            <a:r>
              <a:rPr lang="en-US" altLang="ko-KR" b="1" dirty="0"/>
              <a:t>Pareto-Optimal</a:t>
            </a:r>
            <a:r>
              <a:rPr lang="ko-KR" altLang="en-US" dirty="0"/>
              <a:t> 모델 선정</a:t>
            </a:r>
          </a:p>
        </p:txBody>
      </p:sp>
    </p:spTree>
    <p:extLst>
      <p:ext uri="{BB962C8B-B14F-4D97-AF65-F5344CB8AC3E}">
        <p14:creationId xmlns:p14="http://schemas.microsoft.com/office/powerpoint/2010/main" val="9943355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40906-57DD-C972-144A-8EEBE98C2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85EC9105-809A-832D-4D48-5E515EB8CD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360" y="980729"/>
            <a:ext cx="11737304" cy="5145435"/>
          </a:xfrm>
        </p:spPr>
        <p:txBody>
          <a:bodyPr>
            <a:normAutofit/>
          </a:bodyPr>
          <a:lstStyle/>
          <a:p>
            <a:r>
              <a:rPr lang="ko-KR" altLang="en-US" dirty="0"/>
              <a:t>핵심 목표</a:t>
            </a:r>
            <a:r>
              <a:rPr lang="en-US" altLang="ko-KR" dirty="0"/>
              <a:t>: </a:t>
            </a:r>
            <a:r>
              <a:rPr lang="ko-KR" altLang="en-US" dirty="0"/>
              <a:t>사용자가 입력한 키워드</a:t>
            </a:r>
            <a:r>
              <a:rPr lang="en-US" altLang="ko-KR" dirty="0"/>
              <a:t>/</a:t>
            </a:r>
            <a:r>
              <a:rPr lang="ko-KR" altLang="en-US" dirty="0"/>
              <a:t>영상</a:t>
            </a:r>
            <a:r>
              <a:rPr lang="en-US" altLang="ko-KR" dirty="0"/>
              <a:t>ID</a:t>
            </a:r>
            <a:r>
              <a:rPr lang="ko-KR" altLang="en-US" dirty="0"/>
              <a:t>에 대해</a:t>
            </a:r>
            <a:r>
              <a:rPr lang="en-US" altLang="ko-KR" dirty="0"/>
              <a:t>, </a:t>
            </a:r>
            <a:r>
              <a:rPr lang="ko-KR" altLang="en-US" dirty="0"/>
              <a:t>최신 예측 </a:t>
            </a:r>
            <a:r>
              <a:rPr lang="en-US" altLang="ko-KR" dirty="0"/>
              <a:t>+ </a:t>
            </a:r>
            <a:r>
              <a:rPr lang="ko-KR" altLang="en-US" dirty="0"/>
              <a:t>분포</a:t>
            </a:r>
            <a:r>
              <a:rPr lang="en-US" altLang="ko-KR" dirty="0"/>
              <a:t>(CDF/PDF) </a:t>
            </a:r>
            <a:r>
              <a:rPr lang="ko-KR" altLang="en-US" dirty="0"/>
              <a:t>맥락과 함께 보여주기</a:t>
            </a:r>
            <a:endParaRPr lang="en-US" altLang="ko-KR" dirty="0"/>
          </a:p>
          <a:p>
            <a:pPr lvl="1"/>
            <a:r>
              <a:rPr lang="ko-KR" altLang="en-US" dirty="0"/>
              <a:t>삽입 포인트 </a:t>
            </a:r>
            <a:r>
              <a:rPr lang="en-US" altLang="ko-KR" dirty="0"/>
              <a:t>G — CDF/PDF </a:t>
            </a:r>
            <a:r>
              <a:rPr lang="ko-KR" altLang="en-US" dirty="0"/>
              <a:t>시각화</a:t>
            </a:r>
            <a:r>
              <a:rPr lang="en-US" altLang="ko-KR" dirty="0"/>
              <a:t>, Bloom Filter</a:t>
            </a:r>
            <a:r>
              <a:rPr lang="ko-KR" altLang="en-US" dirty="0"/>
              <a:t>로 쿼리 사전 점검</a:t>
            </a:r>
            <a:endParaRPr lang="en-US" altLang="ko-KR" dirty="0"/>
          </a:p>
          <a:p>
            <a:pPr lvl="1"/>
            <a:r>
              <a:rPr lang="en-US" altLang="ko-KR" dirty="0"/>
              <a:t>CDF/PDF: </a:t>
            </a:r>
            <a:r>
              <a:rPr lang="ko-KR" altLang="en-US" dirty="0"/>
              <a:t>현재 </a:t>
            </a:r>
            <a:r>
              <a:rPr lang="en-US" altLang="ko-KR" dirty="0"/>
              <a:t>engagement_24h</a:t>
            </a:r>
            <a:r>
              <a:rPr lang="ko-KR" altLang="en-US" dirty="0"/>
              <a:t>의 분위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상위 </a:t>
            </a:r>
            <a:r>
              <a:rPr lang="en-US" altLang="ko-KR" dirty="0"/>
              <a:t>10%) </a:t>
            </a:r>
            <a:r>
              <a:rPr lang="ko-KR" altLang="en-US" dirty="0"/>
              <a:t>기준선을 함께 표시</a:t>
            </a:r>
            <a:endParaRPr lang="en-US" altLang="ko-KR" dirty="0"/>
          </a:p>
          <a:p>
            <a:pPr lvl="1"/>
            <a:r>
              <a:rPr lang="en-US" altLang="ko-KR" dirty="0"/>
              <a:t>Bloom Filter: </a:t>
            </a:r>
            <a:r>
              <a:rPr lang="ko-KR" altLang="en-US" dirty="0"/>
              <a:t>입력한 </a:t>
            </a:r>
            <a:r>
              <a:rPr lang="en-US" altLang="ko-KR" dirty="0" err="1"/>
              <a:t>video_id</a:t>
            </a:r>
            <a:r>
              <a:rPr lang="ko-KR" altLang="en-US" dirty="0"/>
              <a:t>가 “최근 </a:t>
            </a:r>
            <a:r>
              <a:rPr lang="en-US" altLang="ko-KR" dirty="0"/>
              <a:t>7</a:t>
            </a:r>
            <a:r>
              <a:rPr lang="ko-KR" altLang="en-US" dirty="0"/>
              <a:t>일 데이터에 존재할 </a:t>
            </a:r>
            <a:r>
              <a:rPr lang="ko-KR" altLang="en-US" dirty="0" err="1"/>
              <a:t>가능성”을</a:t>
            </a:r>
            <a:r>
              <a:rPr lang="ko-KR" altLang="en-US" dirty="0"/>
              <a:t> 즉시 피드백</a:t>
            </a:r>
            <a:endParaRPr lang="en-US" altLang="ko-KR" dirty="0"/>
          </a:p>
          <a:p>
            <a:pPr lvl="1"/>
            <a:r>
              <a:rPr lang="en-US" altLang="ko-KR" dirty="0"/>
              <a:t>(</a:t>
            </a:r>
            <a:r>
              <a:rPr lang="ko-KR" altLang="en-US" dirty="0"/>
              <a:t>선택</a:t>
            </a:r>
            <a:r>
              <a:rPr lang="en-US" altLang="ko-KR" dirty="0"/>
              <a:t>) “Top-K </a:t>
            </a:r>
            <a:r>
              <a:rPr lang="ko-KR" altLang="en-US" dirty="0"/>
              <a:t>상승률” 카드에 </a:t>
            </a:r>
            <a:r>
              <a:rPr lang="en-US" altLang="ko-KR" dirty="0"/>
              <a:t>Sliding Window(1h/5m) </a:t>
            </a:r>
            <a:r>
              <a:rPr lang="ko-KR" altLang="en-US" dirty="0"/>
              <a:t>집계 결과 반영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DE9B18E-100A-60CF-7166-17630073C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2EF5A-E95E-4411-9976-253A83E02D3F}" type="slidenum">
              <a:rPr lang="ko-KR" altLang="en-US" smtClean="0"/>
              <a:pPr/>
              <a:t>7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BDA731F8-696E-B627-1138-A5636B21C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</a:t>
            </a:r>
            <a:r>
              <a:rPr lang="ko-KR" altLang="en-US" dirty="0"/>
              <a:t>과제</a:t>
            </a:r>
            <a:r>
              <a:rPr lang="en-US" altLang="ko-KR" dirty="0"/>
              <a:t>. </a:t>
            </a:r>
            <a:r>
              <a:rPr lang="ko-KR" altLang="en-US" dirty="0"/>
              <a:t>실시간 예측</a:t>
            </a:r>
            <a:r>
              <a:rPr lang="en-US" altLang="ko-KR" dirty="0"/>
              <a:t>/</a:t>
            </a:r>
            <a:r>
              <a:rPr lang="ko-KR" altLang="en-US" dirty="0"/>
              <a:t>조회 </a:t>
            </a:r>
            <a:r>
              <a:rPr lang="en-US" altLang="ko-KR" dirty="0" err="1"/>
              <a:t>Streamlit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676795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A53CDA08-9A09-F51B-A495-109299DA7A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ko-KR" altLang="en-US" dirty="0"/>
              <a:t>설정 파일</a:t>
            </a:r>
            <a:r>
              <a:rPr lang="en-US" altLang="ko-KR" dirty="0"/>
              <a:t>: .</a:t>
            </a:r>
            <a:r>
              <a:rPr lang="en-US" altLang="ko-KR" dirty="0" err="1"/>
              <a:t>env.example</a:t>
            </a:r>
            <a:r>
              <a:rPr lang="en-US" altLang="ko-KR" dirty="0"/>
              <a:t>, </a:t>
            </a:r>
            <a:r>
              <a:rPr lang="en-US" altLang="ko-KR" dirty="0" err="1"/>
              <a:t>app.yaml.example</a:t>
            </a:r>
            <a:r>
              <a:rPr lang="en-US" altLang="ko-KR" dirty="0"/>
              <a:t>, </a:t>
            </a:r>
            <a:r>
              <a:rPr lang="en-US" altLang="ko-KR" dirty="0" err="1"/>
              <a:t>logging.yaml</a:t>
            </a:r>
            <a:endParaRPr lang="en-US" altLang="ko-KR" dirty="0"/>
          </a:p>
          <a:p>
            <a:r>
              <a:rPr lang="ko-KR" altLang="en-US" dirty="0"/>
              <a:t>라이브러리</a:t>
            </a:r>
            <a:r>
              <a:rPr lang="en-US" altLang="ko-KR" dirty="0"/>
              <a:t>: libs/</a:t>
            </a:r>
          </a:p>
          <a:p>
            <a:pPr lvl="1"/>
            <a:r>
              <a:rPr lang="en-US" altLang="ko-KR" dirty="0"/>
              <a:t>session.py(Spark </a:t>
            </a:r>
            <a:r>
              <a:rPr lang="ko-KR" altLang="en-US" dirty="0"/>
              <a:t>세션</a:t>
            </a:r>
            <a:r>
              <a:rPr lang="en-US" altLang="ko-KR" dirty="0"/>
              <a:t>/</a:t>
            </a:r>
            <a:r>
              <a:rPr lang="ko-KR" altLang="en-US" dirty="0"/>
              <a:t>설정 </a:t>
            </a:r>
            <a:r>
              <a:rPr lang="ko-KR" altLang="en-US" dirty="0" err="1"/>
              <a:t>로더</a:t>
            </a:r>
            <a:r>
              <a:rPr lang="en-US" altLang="ko-KR" dirty="0"/>
              <a:t>), sampling.py(reservoir), </a:t>
            </a:r>
          </a:p>
          <a:p>
            <a:pPr lvl="1"/>
            <a:r>
              <a:rPr lang="en-US" altLang="ko-KR" dirty="0"/>
              <a:t>metrics.py(CDF/PDF </a:t>
            </a:r>
            <a:r>
              <a:rPr lang="ko-KR" altLang="en-US" dirty="0"/>
              <a:t>컷</a:t>
            </a:r>
            <a:r>
              <a:rPr lang="en-US" altLang="ko-KR" dirty="0"/>
              <a:t>/</a:t>
            </a:r>
            <a:r>
              <a:rPr lang="ko-KR" altLang="en-US" dirty="0"/>
              <a:t>라벨</a:t>
            </a:r>
            <a:r>
              <a:rPr lang="en-US" altLang="ko-KR" dirty="0"/>
              <a:t>),</a:t>
            </a:r>
          </a:p>
          <a:p>
            <a:pPr lvl="1"/>
            <a:r>
              <a:rPr lang="en-US" altLang="ko-KR" dirty="0"/>
              <a:t>pareto.py(Pareto </a:t>
            </a:r>
            <a:r>
              <a:rPr lang="ko-KR" altLang="en-US" dirty="0"/>
              <a:t>전선</a:t>
            </a:r>
            <a:r>
              <a:rPr lang="en-US" altLang="ko-KR" dirty="0"/>
              <a:t>), io.py(NDJSON/</a:t>
            </a:r>
            <a:r>
              <a:rPr lang="ko-KR" altLang="en-US" dirty="0"/>
              <a:t>샘플 저장</a:t>
            </a:r>
            <a:r>
              <a:rPr lang="en-US" altLang="ko-KR" dirty="0"/>
              <a:t>)</a:t>
            </a:r>
          </a:p>
          <a:p>
            <a:r>
              <a:rPr lang="ko-KR" altLang="en-US" dirty="0" err="1"/>
              <a:t>잡</a:t>
            </a:r>
            <a:r>
              <a:rPr lang="ko-KR" altLang="en-US" dirty="0"/>
              <a:t> 스크립트</a:t>
            </a:r>
            <a:r>
              <a:rPr lang="en-US" altLang="ko-KR" dirty="0"/>
              <a:t>:</a:t>
            </a:r>
          </a:p>
          <a:p>
            <a:pPr lvl="1"/>
            <a:r>
              <a:rPr lang="en-US" altLang="ko-KR" dirty="0"/>
              <a:t>00_fetch_to_landing.py — </a:t>
            </a:r>
            <a:r>
              <a:rPr lang="ko-KR" altLang="en-US" dirty="0"/>
              <a:t>모의 </a:t>
            </a:r>
            <a:r>
              <a:rPr lang="en-US" altLang="ko-KR" dirty="0"/>
              <a:t>API </a:t>
            </a:r>
            <a:r>
              <a:rPr lang="ko-KR" altLang="en-US" dirty="0" err="1"/>
              <a:t>페치</a:t>
            </a:r>
            <a:r>
              <a:rPr lang="ko-KR" altLang="en-US" dirty="0"/>
              <a:t> </a:t>
            </a:r>
            <a:r>
              <a:rPr lang="en-US" altLang="ko-KR" dirty="0"/>
              <a:t>+ reservoir </a:t>
            </a:r>
            <a:r>
              <a:rPr lang="ko-KR" altLang="en-US" dirty="0"/>
              <a:t>샘플 저장</a:t>
            </a:r>
            <a:endParaRPr lang="en-US" altLang="ko-KR" dirty="0"/>
          </a:p>
          <a:p>
            <a:pPr lvl="1"/>
            <a:r>
              <a:rPr lang="en-US" altLang="ko-KR" dirty="0"/>
              <a:t>10_bronze_batch.py — Bloom </a:t>
            </a:r>
            <a:r>
              <a:rPr lang="ko-KR" altLang="en-US" dirty="0"/>
              <a:t>필터 기반 중복 차단 후 </a:t>
            </a:r>
            <a:r>
              <a:rPr lang="en-US" altLang="ko-KR" dirty="0"/>
              <a:t>Delta </a:t>
            </a:r>
            <a:r>
              <a:rPr lang="ko-KR" altLang="en-US" dirty="0"/>
              <a:t>적재</a:t>
            </a:r>
            <a:endParaRPr lang="en-US" altLang="ko-KR" dirty="0"/>
          </a:p>
          <a:p>
            <a:pPr lvl="1"/>
            <a:r>
              <a:rPr lang="en-US" altLang="ko-KR" dirty="0"/>
              <a:t>20_silver_stream.py — </a:t>
            </a:r>
            <a:r>
              <a:rPr lang="ko-KR" altLang="en-US" dirty="0"/>
              <a:t>파일 소스 스트리밍 </a:t>
            </a:r>
            <a:r>
              <a:rPr lang="en-US" altLang="ko-KR" dirty="0"/>
              <a:t>+ sliding window &amp; watermark </a:t>
            </a:r>
            <a:r>
              <a:rPr lang="ko-KR" altLang="en-US" dirty="0"/>
              <a:t>집계</a:t>
            </a:r>
            <a:endParaRPr lang="en-US" altLang="ko-KR" dirty="0"/>
          </a:p>
          <a:p>
            <a:pPr lvl="1"/>
            <a:r>
              <a:rPr lang="en-US" altLang="ko-KR" dirty="0"/>
              <a:t>30_gold_features.py — HLL(</a:t>
            </a:r>
            <a:r>
              <a:rPr lang="en-US" altLang="ko-KR" dirty="0" err="1"/>
              <a:t>approx_count_distinct</a:t>
            </a:r>
            <a:r>
              <a:rPr lang="en-US" altLang="ko-KR" dirty="0"/>
              <a:t>) + CDF </a:t>
            </a:r>
            <a:r>
              <a:rPr lang="ko-KR" altLang="en-US" dirty="0"/>
              <a:t>라벨</a:t>
            </a:r>
            <a:endParaRPr lang="en-US" altLang="ko-KR" dirty="0"/>
          </a:p>
          <a:p>
            <a:pPr lvl="1"/>
            <a:r>
              <a:rPr lang="en-US" altLang="ko-KR" dirty="0"/>
              <a:t>40_train_pareto.py — </a:t>
            </a:r>
            <a:r>
              <a:rPr lang="ko-KR" altLang="en-US" dirty="0" err="1"/>
              <a:t>다모델</a:t>
            </a:r>
            <a:r>
              <a:rPr lang="ko-KR" altLang="en-US" dirty="0"/>
              <a:t> 학습 </a:t>
            </a:r>
            <a:r>
              <a:rPr lang="en-US" altLang="ko-KR" dirty="0"/>
              <a:t>+ Pareto-front </a:t>
            </a:r>
            <a:r>
              <a:rPr lang="ko-KR" altLang="en-US" dirty="0"/>
              <a:t>산출</a:t>
            </a:r>
            <a:endParaRPr lang="en-US" altLang="ko-KR" dirty="0"/>
          </a:p>
          <a:p>
            <a:pPr lvl="1"/>
            <a:r>
              <a:rPr lang="en-US" altLang="ko-KR" dirty="0"/>
              <a:t>50_predict_stream.py — (</a:t>
            </a:r>
            <a:r>
              <a:rPr lang="ko-KR" altLang="en-US" dirty="0"/>
              <a:t>옵션</a:t>
            </a:r>
            <a:r>
              <a:rPr lang="en-US" altLang="ko-KR" dirty="0"/>
              <a:t>) </a:t>
            </a:r>
            <a:r>
              <a:rPr lang="ko-KR" altLang="en-US" dirty="0"/>
              <a:t>간단 예측 </a:t>
            </a:r>
            <a:r>
              <a:rPr lang="en-US" altLang="ko-KR" dirty="0"/>
              <a:t>append</a:t>
            </a:r>
          </a:p>
          <a:p>
            <a:r>
              <a:rPr lang="en-US" altLang="ko-KR" dirty="0" err="1"/>
              <a:t>Streamlit</a:t>
            </a:r>
            <a:r>
              <a:rPr lang="en-US" altLang="ko-KR" dirty="0"/>
              <a:t> </a:t>
            </a:r>
            <a:r>
              <a:rPr lang="ko-KR" altLang="en-US" dirty="0"/>
              <a:t>앱</a:t>
            </a:r>
            <a:r>
              <a:rPr lang="en-US" altLang="ko-KR" dirty="0"/>
              <a:t>: app/app.py — CDF/PDF </a:t>
            </a:r>
            <a:r>
              <a:rPr lang="ko-KR" altLang="en-US" dirty="0"/>
              <a:t>시각화</a:t>
            </a:r>
            <a:r>
              <a:rPr lang="en-US" altLang="ko-KR" dirty="0"/>
              <a:t>, Bloom </a:t>
            </a:r>
            <a:r>
              <a:rPr lang="ko-KR" altLang="en-US" dirty="0"/>
              <a:t>존재 가능성 체크</a:t>
            </a:r>
            <a:r>
              <a:rPr lang="en-US" altLang="ko-KR" dirty="0"/>
              <a:t>, </a:t>
            </a:r>
            <a:r>
              <a:rPr lang="ko-KR" altLang="en-US" dirty="0"/>
              <a:t>테이블 뷰</a:t>
            </a:r>
            <a:endParaRPr lang="en-US" altLang="ko-KR" dirty="0"/>
          </a:p>
          <a:p>
            <a:r>
              <a:rPr lang="ko-KR" altLang="en-US" dirty="0"/>
              <a:t>스크립트</a:t>
            </a:r>
            <a:r>
              <a:rPr lang="en-US" altLang="ko-KR" dirty="0"/>
              <a:t>: </a:t>
            </a:r>
            <a:r>
              <a:rPr lang="ko-KR" altLang="en-US" dirty="0"/>
              <a:t>초기화</a:t>
            </a:r>
            <a:r>
              <a:rPr lang="en-US" altLang="ko-KR" dirty="0"/>
              <a:t>/</a:t>
            </a:r>
            <a:r>
              <a:rPr lang="ko-KR" altLang="en-US" dirty="0"/>
              <a:t>데이터 생성</a:t>
            </a:r>
            <a:r>
              <a:rPr lang="en-US" altLang="ko-KR" dirty="0"/>
              <a:t>/</a:t>
            </a:r>
            <a:r>
              <a:rPr lang="ko-KR" altLang="en-US" dirty="0"/>
              <a:t>앱 실행 </a:t>
            </a:r>
            <a:r>
              <a:rPr lang="en-US" altLang="ko-KR" dirty="0"/>
              <a:t>(reset_all.sh, make_stream_data.sh, run_streamlit.sh)</a:t>
            </a:r>
          </a:p>
          <a:p>
            <a:r>
              <a:rPr lang="ko-KR" altLang="en-US" dirty="0"/>
              <a:t>의존성</a:t>
            </a:r>
            <a:r>
              <a:rPr lang="en-US" altLang="ko-KR" dirty="0"/>
              <a:t>: requirements.txt (</a:t>
            </a:r>
            <a:r>
              <a:rPr lang="en-US" altLang="ko-KR" dirty="0" err="1"/>
              <a:t>pyspark</a:t>
            </a:r>
            <a:r>
              <a:rPr lang="en-US" altLang="ko-KR" dirty="0"/>
              <a:t>, delta-spark, </a:t>
            </a:r>
            <a:r>
              <a:rPr lang="en-US" altLang="ko-KR" dirty="0" err="1"/>
              <a:t>mlflow</a:t>
            </a:r>
            <a:r>
              <a:rPr lang="en-US" altLang="ko-KR" dirty="0"/>
              <a:t>, </a:t>
            </a:r>
            <a:r>
              <a:rPr lang="en-US" altLang="ko-KR" dirty="0" err="1"/>
              <a:t>streamlit</a:t>
            </a:r>
            <a:r>
              <a:rPr lang="en-US" altLang="ko-KR" dirty="0"/>
              <a:t>, </a:t>
            </a:r>
            <a:r>
              <a:rPr lang="ko-KR" altLang="en-US" dirty="0"/>
              <a:t>등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README: </a:t>
            </a:r>
            <a:r>
              <a:rPr lang="ko-KR" altLang="en-US" dirty="0" err="1"/>
              <a:t>퀵스타트와</a:t>
            </a:r>
            <a:r>
              <a:rPr lang="ko-KR" altLang="en-US" dirty="0"/>
              <a:t> 전체 실행 순서 포함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5BD08BE-8649-3D39-A8EE-FB6D705B9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2EF5A-E95E-4411-9976-253A83E02D3F}" type="slidenum">
              <a:rPr lang="ko-KR" altLang="en-US" smtClean="0"/>
              <a:pPr/>
              <a:t>8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6125A4F9-FB02-6C50-7B99-7165E8BFA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폴더 안내</a:t>
            </a:r>
          </a:p>
        </p:txBody>
      </p:sp>
    </p:spTree>
    <p:extLst>
      <p:ext uri="{BB962C8B-B14F-4D97-AF65-F5344CB8AC3E}">
        <p14:creationId xmlns:p14="http://schemas.microsoft.com/office/powerpoint/2010/main" val="923832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6262</TotalTime>
  <Words>849</Words>
  <Application>Microsoft Office PowerPoint</Application>
  <PresentationFormat>와이드스크린</PresentationFormat>
  <Paragraphs>68</Paragraphs>
  <Slides>8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5" baseType="lpstr">
      <vt:lpstr>HY견고딕</vt:lpstr>
      <vt:lpstr>KoPubWorld돋움체 Medium</vt:lpstr>
      <vt:lpstr>맑은 고딕</vt:lpstr>
      <vt:lpstr>Arial</vt:lpstr>
      <vt:lpstr>Roboto</vt:lpstr>
      <vt:lpstr>Wingdings</vt:lpstr>
      <vt:lpstr>Office 테마</vt:lpstr>
      <vt:lpstr>개별과제: 빅데이터 분석</vt:lpstr>
      <vt:lpstr>과제 목표</vt:lpstr>
      <vt:lpstr>1과제. 멀티 소스 수집 &amp; 배치 ETL (Bronze)</vt:lpstr>
      <vt:lpstr>2과제. 구조화 &amp; 정제 스트리밍 (Silver)</vt:lpstr>
      <vt:lpstr>3과제. 피처 엔지니어링 &amp; 준실시간 라벨링 (Gold/Features)</vt:lpstr>
      <vt:lpstr>4과제. 다수 알고리즘 벤치마킹 &amp; Pareto-Optimal 모델 선정</vt:lpstr>
      <vt:lpstr>5과제. 실시간 예측/조회 Streamlit</vt:lpstr>
      <vt:lpstr>폴더 안내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sjhr</dc:creator>
  <cp:lastModifiedBy>임찬주</cp:lastModifiedBy>
  <cp:revision>4517</cp:revision>
  <cp:lastPrinted>2015-02-02T08:43:41Z</cp:lastPrinted>
  <dcterms:created xsi:type="dcterms:W3CDTF">2013-11-16T15:06:08Z</dcterms:created>
  <dcterms:modified xsi:type="dcterms:W3CDTF">2025-11-06T03:57:05Z</dcterms:modified>
</cp:coreProperties>
</file>