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F9F3-60CE-7E9D-770E-709654E4D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D9476D-1EF6-508A-5C9F-CD0F871D6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75A973-5179-5107-3F29-8274E884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10A6A-7476-5FD6-A847-145C1C93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DCD6A-D829-4677-E0ED-B228F32F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5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4A5A9-787C-2975-284F-13D8C4D5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A0ED0B-20F7-A1AF-19DD-C1FF5ACFD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6B26FD-E0BA-EB0B-66E2-D483B24C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24220D-E80E-6F4A-AD6E-7833EF92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AA09D-9247-B713-A589-644C95D6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9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4F88A-736C-D0D8-67D3-64E1A5A8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28C950-D559-A23B-B536-14DB83C9C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105A87-CCF3-9B7C-8FFD-C2E10EC76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2FC4B-C712-F917-767E-F4D98348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1F2F81-80FB-778A-4381-3DC029C2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12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A96A5-73C7-F939-339E-F365EBC4C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B8FECF-52AF-EAD8-9D36-CE72545D9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31FCDD-B6D8-50CE-6756-8DF3E4C2C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A17B7A-3302-CF0E-4816-802BA98A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0C91F1-2A6B-D84B-B052-8F13F1FD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73F8E6-2168-E42F-E83B-4C48F51F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6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79CBC-6132-8AEA-8E77-C4D68F32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09AB1A-5171-878F-8D64-06A849D22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7730D1-2AA4-2829-4E38-36B97A6AE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F05F69-8DE3-873F-BDE9-BDA3EC3D0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5EF89B-F430-5E4E-1A9B-57890B3DE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809E78-25D4-5C74-19EE-1AB4CF79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E66073-9FF9-B61F-1DFD-8E1683E1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E9B7C4-2113-1DAF-8E12-8BE619D9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0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77493-CB3A-8842-AE7A-4F4ADDA0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184B7E-D154-2310-7BE7-515DE7A8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FDD546-3B04-CC99-7B5B-3DDD5D82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3C471B-06C0-3184-A030-CD341992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41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72F793-74FD-4A27-D2A8-E58813D7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7DD97D-C3E7-DDF6-B4B9-20C5B068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70DC1C-BF8F-7204-D397-301227EE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02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50D52-B69C-77B3-3641-BD578069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FD36D-F3A5-7D2C-C471-25B90048A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56528E-655F-0160-725B-56CE5BE5F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E86A0-6D0C-0557-77D6-E4A28E45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48DCF1-CFF9-28DF-C932-21A0722E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7742F1-5F42-EF83-3EB3-D503D9B5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09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FAF53-9DD5-4C00-BAB6-4CF7809E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38701E-0BB7-69EE-DE00-E2FBD8F00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D3F85A-6C71-20F1-A882-1FC468A0F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C93A0-8231-3C30-A2D9-7D5DA917C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10C7E3-D230-EA5D-5AF4-93BE744D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3687A0-E664-1602-37C8-51014FD0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06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22667-38EB-D136-4239-5E2277AF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4535DF-EBE1-FB17-FDB8-CC98EB369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482831-BE75-5C03-1B9B-754A6472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DBBBC2-CF86-D3D8-8244-A52A5717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2AB0C-A6CD-9C10-A801-5FAD0DBC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FE2DAF-7DF3-2BC3-E807-957ED0601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F57A03-3C66-8B1C-EDC9-EF7E51D27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E68CC-F2C8-9C17-957D-92E1563B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87BE37-3203-91F8-E297-04C876C5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15F74F-FF57-8673-E63A-CFD71466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87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CA7BEB-2BB0-FBE4-EB24-0A494A3A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CFA3A0-DD6D-7BF1-C969-581BAD6FE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A1F4A1-CF0A-57D7-A8F3-185A6B7B3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1B912-6DD3-46FD-9470-8FDDCEDBC7D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CA5E25-A0CE-B155-64F8-D52032D64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8B967-7909-5CFD-2327-BEF615F28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D20A4-3C51-429C-8048-040AC3BA8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90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7B5DB-6D13-2DE8-E5A9-585242F8C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빅데이터 분석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99D8E6-A2B8-5A92-23D9-4D4AF86098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2143837 </a:t>
            </a:r>
            <a:r>
              <a:rPr lang="ko-KR" altLang="en-US" dirty="0"/>
              <a:t>임찬주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5445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CD591-E650-2ED1-9C44-D26CE582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정의와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138F5E-AFAA-C0C3-455A-51EF7A60A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074"/>
            <a:ext cx="10515600" cy="549592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400" dirty="0"/>
              <a:t>다양한 데이터소스</a:t>
            </a:r>
            <a:r>
              <a:rPr lang="en-US" altLang="ko-KR" sz="2400" dirty="0"/>
              <a:t>(</a:t>
            </a:r>
            <a:r>
              <a:rPr lang="ko-KR" altLang="en-US" sz="2400" dirty="0"/>
              <a:t>비디오</a:t>
            </a:r>
            <a:r>
              <a:rPr lang="en-US" altLang="ko-KR" sz="2400" dirty="0"/>
              <a:t>, </a:t>
            </a:r>
            <a:r>
              <a:rPr lang="ko-KR" altLang="en-US" sz="2400" dirty="0"/>
              <a:t>소셜미디어 스트림 등</a:t>
            </a:r>
            <a:r>
              <a:rPr lang="en-US" altLang="ko-KR" sz="2400" dirty="0"/>
              <a:t>)</a:t>
            </a:r>
            <a:r>
              <a:rPr lang="ko-KR" altLang="en-US" sz="2400" dirty="0"/>
              <a:t>로부터 실시간 데이터 처리하는 기법에 대한 단계별 과제</a:t>
            </a:r>
            <a:endParaRPr lang="en-US" altLang="ko-KR" sz="2400" dirty="0"/>
          </a:p>
          <a:p>
            <a:pPr marL="514350" indent="-514350">
              <a:buAutoNum type="arabicPeriod"/>
            </a:pPr>
            <a:r>
              <a:rPr lang="ko-KR" altLang="en-US" sz="2400" dirty="0"/>
              <a:t>수집</a:t>
            </a:r>
            <a:br>
              <a:rPr lang="en-US" altLang="ko-KR" dirty="0"/>
            </a:br>
            <a:r>
              <a:rPr lang="ko-KR" altLang="en-US" sz="1800" dirty="0"/>
              <a:t>여러 소스에서 지속적으로 받아오는 단계로</a:t>
            </a:r>
            <a:br>
              <a:rPr lang="en-US" altLang="ko-KR" sz="1800" dirty="0"/>
            </a:br>
            <a:r>
              <a:rPr lang="ko-KR" altLang="en-US" sz="1800" dirty="0"/>
              <a:t>스트리밍 수집과 배치 수집 두 가지 방식이 있음</a:t>
            </a:r>
            <a:br>
              <a:rPr lang="en-US" altLang="ko-KR" sz="1800" dirty="0"/>
            </a:br>
            <a:r>
              <a:rPr lang="ko-KR" altLang="en-US" sz="1800" dirty="0"/>
              <a:t>데이터를 빠짐없이 확보하고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중복없이</a:t>
            </a:r>
            <a:r>
              <a:rPr lang="ko-KR" altLang="en-US" sz="1800" dirty="0"/>
              <a:t> 저장하는데 목적이 있음</a:t>
            </a:r>
            <a:br>
              <a:rPr lang="en-US" altLang="ko-KR" sz="1800" dirty="0"/>
            </a:br>
            <a:r>
              <a:rPr lang="en-US" altLang="ko-KR" sz="1800" dirty="0"/>
              <a:t>API</a:t>
            </a:r>
            <a:r>
              <a:rPr lang="ko-KR" altLang="en-US" sz="1800" dirty="0"/>
              <a:t>를 사용해서 실시간 수집이 가능함</a:t>
            </a:r>
            <a:endParaRPr lang="en-US" altLang="ko-KR" sz="1800" dirty="0"/>
          </a:p>
          <a:p>
            <a:pPr marL="514350" indent="-514350">
              <a:buAutoNum type="arabicPeriod"/>
            </a:pPr>
            <a:r>
              <a:rPr lang="ko-KR" altLang="en-US" sz="2400" dirty="0"/>
              <a:t>스트리밍 </a:t>
            </a:r>
            <a:r>
              <a:rPr lang="en-US" altLang="ko-KR" sz="2400" dirty="0"/>
              <a:t>ETL (</a:t>
            </a:r>
            <a:r>
              <a:rPr lang="ko-KR" altLang="en-US" sz="2400" dirty="0"/>
              <a:t>정제</a:t>
            </a:r>
            <a:r>
              <a:rPr lang="en-US" altLang="ko-KR" sz="2400" dirty="0"/>
              <a:t>)</a:t>
            </a:r>
            <a:br>
              <a:rPr lang="en-US" altLang="ko-KR" dirty="0"/>
            </a:br>
            <a:r>
              <a:rPr lang="en-US" altLang="ko-KR" sz="1800" dirty="0"/>
              <a:t>Extract(</a:t>
            </a:r>
            <a:r>
              <a:rPr lang="ko-KR" altLang="en-US" sz="1800" dirty="0"/>
              <a:t>추출</a:t>
            </a:r>
            <a:r>
              <a:rPr lang="en-US" altLang="ko-KR" sz="1800" dirty="0"/>
              <a:t>)-</a:t>
            </a:r>
            <a:r>
              <a:rPr lang="en-US" altLang="ko-KR" sz="1800" dirty="0" err="1"/>
              <a:t>Tranform</a:t>
            </a:r>
            <a:r>
              <a:rPr lang="en-US" altLang="ko-KR" sz="1800" dirty="0"/>
              <a:t>(</a:t>
            </a:r>
            <a:r>
              <a:rPr lang="ko-KR" altLang="en-US" sz="1800" dirty="0"/>
              <a:t>변환</a:t>
            </a:r>
            <a:r>
              <a:rPr lang="en-US" altLang="ko-KR" sz="1800" dirty="0"/>
              <a:t>)-Load(</a:t>
            </a:r>
            <a:r>
              <a:rPr lang="ko-KR" altLang="en-US" sz="1800" dirty="0"/>
              <a:t>적재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ko-KR" altLang="en-US" sz="1800" dirty="0"/>
              <a:t>스트리밍 데이터를 정제하고 품질을 높이는 단계이다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ko-KR" altLang="en-US" sz="1800" dirty="0"/>
              <a:t>단계별 정제 레이어</a:t>
            </a:r>
            <a:r>
              <a:rPr lang="en-US" altLang="ko-KR" sz="1800" dirty="0"/>
              <a:t>(Bronze/Silver/Gold </a:t>
            </a:r>
            <a:r>
              <a:rPr lang="ko-KR" altLang="en-US" sz="1800" dirty="0"/>
              <a:t>구조</a:t>
            </a:r>
            <a:r>
              <a:rPr lang="en-US" altLang="ko-KR" sz="1800" dirty="0"/>
              <a:t>) </a:t>
            </a:r>
            <a:r>
              <a:rPr lang="ko-KR" altLang="en-US" sz="1800" dirty="0"/>
              <a:t>존재</a:t>
            </a:r>
            <a:br>
              <a:rPr lang="en-US" altLang="ko-KR" sz="1800" dirty="0"/>
            </a:br>
            <a:r>
              <a:rPr lang="en-US" altLang="ko-KR" sz="1800" dirty="0"/>
              <a:t>bronze: </a:t>
            </a:r>
            <a:r>
              <a:rPr lang="ko-KR" altLang="en-US" sz="1800" dirty="0"/>
              <a:t>스키마 고정</a:t>
            </a:r>
            <a:r>
              <a:rPr lang="en-US" altLang="ko-KR" sz="1800" dirty="0"/>
              <a:t> + </a:t>
            </a:r>
            <a:r>
              <a:rPr lang="ko-KR" altLang="en-US" sz="1800" dirty="0"/>
              <a:t>증분 적재</a:t>
            </a:r>
            <a:br>
              <a:rPr lang="en-US" altLang="ko-KR" sz="1800" dirty="0"/>
            </a:br>
            <a:r>
              <a:rPr lang="en-US" altLang="ko-KR" sz="1800" dirty="0"/>
              <a:t>silver: </a:t>
            </a:r>
            <a:r>
              <a:rPr lang="ko-KR" altLang="en-US" sz="1800" dirty="0"/>
              <a:t>중복 제거 </a:t>
            </a:r>
            <a:r>
              <a:rPr lang="en-US" altLang="ko-KR" sz="1800" dirty="0"/>
              <a:t>+ timestamp </a:t>
            </a:r>
            <a:r>
              <a:rPr lang="ko-KR" altLang="en-US" sz="1800" dirty="0"/>
              <a:t>정제 </a:t>
            </a:r>
            <a:r>
              <a:rPr lang="en-US" altLang="ko-KR" sz="1800" dirty="0"/>
              <a:t>+ sliding window </a:t>
            </a:r>
            <a:r>
              <a:rPr lang="ko-KR" altLang="en-US" sz="1800" dirty="0"/>
              <a:t>집계 </a:t>
            </a:r>
            <a:r>
              <a:rPr lang="en-US" altLang="ko-KR" sz="1800" dirty="0"/>
              <a:t>(file streaming source + sliding window + watermark)</a:t>
            </a:r>
            <a:br>
              <a:rPr lang="en-US" altLang="ko-KR" sz="1800" dirty="0"/>
            </a:br>
            <a:r>
              <a:rPr lang="en-US" altLang="ko-KR" sz="1800" dirty="0"/>
              <a:t>gold: </a:t>
            </a:r>
            <a:r>
              <a:rPr lang="ko-KR" altLang="en-US" sz="1800" dirty="0"/>
              <a:t>피처</a:t>
            </a:r>
            <a:r>
              <a:rPr lang="en-US" altLang="ko-KR" sz="1800" dirty="0"/>
              <a:t>/</a:t>
            </a:r>
            <a:r>
              <a:rPr lang="ko-KR" altLang="en-US" sz="1800" dirty="0"/>
              <a:t>라벨 데이터셋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approx</a:t>
            </a:r>
            <a:r>
              <a:rPr lang="en-US" altLang="ko-KR" sz="1800" dirty="0"/>
              <a:t> unique users (HLL) + CDF/PDF thresholds)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sz="2400" dirty="0"/>
              <a:t>피처</a:t>
            </a:r>
            <a:r>
              <a:rPr lang="en-US" altLang="ko-KR" sz="2400" dirty="0"/>
              <a:t> &amp; </a:t>
            </a:r>
            <a:r>
              <a:rPr lang="ko-KR" altLang="en-US" sz="2400" dirty="0"/>
              <a:t>라벨 생성</a:t>
            </a:r>
            <a:br>
              <a:rPr lang="en-US" altLang="ko-KR" sz="2400" dirty="0"/>
            </a:br>
            <a:r>
              <a:rPr lang="ko-KR" altLang="en-US" sz="2200" dirty="0"/>
              <a:t>모델 입력으로 쓸 </a:t>
            </a:r>
            <a:r>
              <a:rPr lang="en-US" altLang="ko-KR" sz="2200" dirty="0"/>
              <a:t>feature</a:t>
            </a:r>
            <a:r>
              <a:rPr lang="ko-KR" altLang="en-US" sz="2200" dirty="0"/>
              <a:t>와 정답으로 쓸 </a:t>
            </a:r>
            <a:r>
              <a:rPr lang="en-US" altLang="ko-KR" sz="2200" dirty="0"/>
              <a:t>label </a:t>
            </a:r>
            <a:r>
              <a:rPr lang="ko-KR" altLang="en-US" sz="2200" dirty="0"/>
              <a:t>생성 </a:t>
            </a:r>
            <a:r>
              <a:rPr lang="en-US" altLang="ko-KR" sz="2200" dirty="0"/>
              <a:t>(multi-model metrics + Pareto front selection)</a:t>
            </a:r>
          </a:p>
          <a:p>
            <a:pPr marL="514350" indent="-514350">
              <a:buAutoNum type="arabicPeriod"/>
            </a:pPr>
            <a:r>
              <a:rPr lang="ko-KR" altLang="en-US" sz="2400" dirty="0"/>
              <a:t>모델 선정 </a:t>
            </a:r>
            <a:r>
              <a:rPr lang="en-US" altLang="ko-KR" sz="2400" dirty="0"/>
              <a:t>&amp; </a:t>
            </a:r>
            <a:r>
              <a:rPr lang="ko-KR" altLang="en-US" sz="2400" dirty="0"/>
              <a:t>학습 </a:t>
            </a:r>
            <a:r>
              <a:rPr lang="en-US" altLang="ko-KR" sz="2400" dirty="0"/>
              <a:t>: </a:t>
            </a:r>
            <a:r>
              <a:rPr lang="ko-KR" altLang="en-US" sz="2400" dirty="0"/>
              <a:t>여러 모델을 학습시켜서 정확도</a:t>
            </a:r>
            <a:r>
              <a:rPr lang="en-US" altLang="ko-KR" sz="2400" dirty="0"/>
              <a:t>, F1 </a:t>
            </a:r>
            <a:r>
              <a:rPr lang="ko-KR" altLang="en-US" sz="2400" dirty="0"/>
              <a:t>등 다중 기준으로 평가해 </a:t>
            </a:r>
            <a:r>
              <a:rPr lang="en-US" altLang="ko-KR" sz="2400" dirty="0"/>
              <a:t>Pareto </a:t>
            </a:r>
            <a:r>
              <a:rPr lang="ko-KR" altLang="en-US" sz="2400" dirty="0"/>
              <a:t>최적</a:t>
            </a:r>
            <a:r>
              <a:rPr lang="en-US" altLang="ko-KR" sz="2400" dirty="0"/>
              <a:t>(front) </a:t>
            </a:r>
            <a:r>
              <a:rPr lang="ko-KR" altLang="en-US" sz="2400" dirty="0"/>
              <a:t>모델 선택하는 단계</a:t>
            </a:r>
            <a:endParaRPr lang="en-US" altLang="ko-KR" sz="2400" dirty="0"/>
          </a:p>
          <a:p>
            <a:pPr marL="514350" indent="-514350">
              <a:buAutoNum type="arabicPeriod"/>
            </a:pPr>
            <a:r>
              <a:rPr lang="ko-KR" altLang="en-US" sz="2400" dirty="0"/>
              <a:t>실시간 서비스에 대한 이해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7242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C7195-45AB-7234-EF96-A9D68B46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7FEA8-B029-E38A-9285-B0FBF1FB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46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CB5E0-BE88-66CB-4799-43402077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 : Bronze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2A4E8-1005-2869-ACD7-6FEB01DCF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Reservoir Sampling</a:t>
            </a:r>
            <a:br>
              <a:rPr lang="en-US" altLang="ko-KR" dirty="0"/>
            </a:br>
            <a:r>
              <a:rPr lang="ko-KR" altLang="en-US" dirty="0"/>
              <a:t>개선 사항 </a:t>
            </a:r>
            <a:r>
              <a:rPr lang="en-US" altLang="ko-KR" dirty="0"/>
              <a:t>: </a:t>
            </a:r>
            <a:r>
              <a:rPr lang="ko-KR" altLang="en-US" dirty="0"/>
              <a:t>현재는 파이썬 </a:t>
            </a:r>
            <a:r>
              <a:rPr lang="en-US" altLang="ko-KR" dirty="0"/>
              <a:t>map</a:t>
            </a:r>
            <a:r>
              <a:rPr lang="ko-KR" altLang="en-US" dirty="0"/>
              <a:t>으로 샘플링 하는데 </a:t>
            </a:r>
            <a:r>
              <a:rPr lang="en-US" altLang="ko-KR" dirty="0"/>
              <a:t>Spark </a:t>
            </a:r>
            <a:r>
              <a:rPr lang="ko-KR" altLang="en-US" dirty="0"/>
              <a:t>내장 </a:t>
            </a:r>
            <a:r>
              <a:rPr lang="en-US" altLang="ko-KR" dirty="0"/>
              <a:t>sample() </a:t>
            </a:r>
            <a:r>
              <a:rPr lang="ko-KR" altLang="en-US" dirty="0"/>
              <a:t>함수를 사용하면 동일 확률 샘플링 가능</a:t>
            </a:r>
            <a:br>
              <a:rPr lang="en-US" altLang="ko-KR" dirty="0"/>
            </a:br>
            <a:r>
              <a:rPr lang="en-US" altLang="ko-KR" dirty="0"/>
              <a:t>(docker system </a:t>
            </a:r>
            <a:r>
              <a:rPr lang="ko-KR" altLang="en-US" dirty="0"/>
              <a:t>활용으로 인한 </a:t>
            </a:r>
            <a:r>
              <a:rPr lang="en-US" altLang="ko-KR"/>
              <a:t>random </a:t>
            </a:r>
            <a:r>
              <a:rPr lang="ko-KR" altLang="en-US"/>
              <a:t>패키지 사용</a:t>
            </a:r>
            <a:r>
              <a:rPr lang="en-US" altLang="ko-KR"/>
              <a:t>)</a:t>
            </a:r>
            <a:endParaRPr lang="en-US" altLang="ko-KR" dirty="0"/>
          </a:p>
          <a:p>
            <a:r>
              <a:rPr lang="en-US" altLang="ko-KR" dirty="0"/>
              <a:t>Bloom Filter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78C526-DE55-C885-BF00-CFBC4625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3" y="4024125"/>
            <a:ext cx="4602551" cy="18962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68E2F0-36E4-3C7B-0512-B17FA8FCD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13111"/>
            <a:ext cx="4842580" cy="21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8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6EC9-2862-BD51-3FB6-4B11D095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D98FD-6643-E811-A7A0-D5E9061D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2 : Silver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BBDDF4-554D-B9E5-BCCA-F1732E4AC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Watermark : Spark</a:t>
            </a:r>
            <a:r>
              <a:rPr lang="ko-KR" altLang="en-US" dirty="0"/>
              <a:t>가 </a:t>
            </a:r>
            <a:r>
              <a:rPr lang="en-US" altLang="ko-KR" dirty="0"/>
              <a:t>“</a:t>
            </a:r>
            <a:r>
              <a:rPr lang="ko-KR" altLang="en-US" dirty="0"/>
              <a:t>얼마나 오래 기다릴지</a:t>
            </a:r>
            <a:r>
              <a:rPr lang="en-US" altLang="ko-KR" dirty="0"/>
              <a:t>”</a:t>
            </a:r>
            <a:r>
              <a:rPr lang="ko-KR" altLang="en-US" dirty="0"/>
              <a:t>를 알려주는 지연 허용 정책이다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지연된 데이터를 얼마나 받아들일지를 결정함</a:t>
            </a:r>
            <a:endParaRPr lang="en-US" altLang="ko-KR" dirty="0"/>
          </a:p>
          <a:p>
            <a:r>
              <a:rPr lang="en-US" altLang="ko-KR" dirty="0"/>
              <a:t>Sliding Window</a:t>
            </a:r>
            <a:br>
              <a:rPr lang="en-US" altLang="ko-KR" dirty="0"/>
            </a:br>
            <a:r>
              <a:rPr lang="en-US" altLang="ko-KR" dirty="0"/>
              <a:t>- Win : 1 hour / Slide : 5 minutes -&gt; 1</a:t>
            </a:r>
            <a:r>
              <a:rPr lang="ko-KR" altLang="en-US" dirty="0" err="1"/>
              <a:t>시간짜리를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분 단위로 슬라이딩해서 집계한다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- overlap </a:t>
            </a:r>
            <a:r>
              <a:rPr lang="ko-KR" altLang="en-US"/>
              <a:t>구조임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48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B26D8-6D51-62F5-95AF-C025CBC8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C922AC-E46C-FA9B-3F6C-6F2FE142A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580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431F0-98D9-1671-724F-F775161B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EAF650-4CBD-8BCE-1A07-14B3E99AF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40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8EF97-2352-08FD-FFD9-7EBC4728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고찰 및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038EA-83CD-7475-F90A-695ABD2EF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63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31240-3758-9A95-84DA-DF516F82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4C87D9-67E4-C1B7-9B2C-CEBAA249A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256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296</Words>
  <Application>Microsoft Office PowerPoint</Application>
  <PresentationFormat>와이드스크린</PresentationFormat>
  <Paragraphs>20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빅데이터 분석 과제</vt:lpstr>
      <vt:lpstr>문제 정의와 목표</vt:lpstr>
      <vt:lpstr>설계</vt:lpstr>
      <vt:lpstr>과제 1 : Bronze Layer</vt:lpstr>
      <vt:lpstr>과제 2 : Silver Layer</vt:lpstr>
      <vt:lpstr>구현</vt:lpstr>
      <vt:lpstr>실험 및 결과</vt:lpstr>
      <vt:lpstr>고찰 및 결론</vt:lpstr>
      <vt:lpstr>참고문헌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임찬주</dc:creator>
  <cp:lastModifiedBy>임찬주</cp:lastModifiedBy>
  <cp:revision>24</cp:revision>
  <dcterms:created xsi:type="dcterms:W3CDTF">2025-11-06T03:52:52Z</dcterms:created>
  <dcterms:modified xsi:type="dcterms:W3CDTF">2025-11-07T07:03:53Z</dcterms:modified>
</cp:coreProperties>
</file>