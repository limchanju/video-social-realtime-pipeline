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64" r:id="rId6"/>
    <p:sldId id="265" r:id="rId7"/>
    <p:sldId id="266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DAF9F3-60CE-7E9D-770E-709654E4D3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D9476D-1EF6-508A-5C9F-CD0F871D67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75A973-5179-5107-3F29-8274E8846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BE10A6A-7476-5FD6-A847-145C1C937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0DCD6A-D829-4677-E0ED-B228F32FF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92541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F4A5A9-787C-2975-284F-13D8C4D5C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DA0ED0B-20F7-A1AF-19DD-C1FF5ACFD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6B26FD-E0BA-EB0B-66E2-D483B24C75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24220D-E80E-6F4A-AD6E-7833EF926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FAA09D-9247-B713-A589-644C95D68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99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74F88A-736C-D0D8-67D3-64E1A5A89E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528C950-D559-A23B-B536-14DB83C9C6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105A87-CCF3-9B7C-8FFD-C2E10EC76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132FC4B-C712-F917-767E-F4D983486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1F2F81-80FB-778A-4381-3DC029C2D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1200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00A96A5-73C7-F939-339E-F365EBC4C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1B8FECF-52AF-EAD8-9D36-CE72545D95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931FCDD-B6D8-50CE-6756-8DF3E4C2CE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3A17B7A-3302-CF0E-4816-802BA98A4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50C91F1-2A6B-D84B-B052-8F13F1FD8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E73F8E6-2168-E42F-E83B-4C48F51F9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360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979CBC-6132-8AEA-8E77-C4D68F321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409AB1A-5171-878F-8D64-06A849D22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37730D1-2AA4-2829-4E38-36B97A6AE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CF05F69-8DE3-873F-BDE9-BDA3EC3D0C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C5EF89B-F430-5E4E-1A9B-57890B3DEC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A809E78-25D4-5C74-19EE-1AB4CF79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BE66073-9FF9-B61F-1DFD-8E1683E1B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3E9B7C4-2113-1DAF-8E12-8BE619D97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0208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A77493-CB3A-8842-AE7A-4F4ADDA0A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1184B7E-D154-2310-7BE7-515DE7A82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BFDD546-3B04-CC99-7B5B-3DDD5D821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03C471B-06C0-3184-A030-CD3419928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1417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C72F793-74FD-4A27-D2A8-E58813D70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77DD97D-C3E7-DDF6-B4B9-20C5B068C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70DC1C-BF8F-7204-D397-301227EEB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9025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D50D52-B69C-77B3-3641-BD578069E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D2FD36D-F3A5-7D2C-C471-25B90048AB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56528E-655F-0160-725B-56CE5BE5FF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1BE86A0-6D0C-0557-77D6-E4A28E453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548DCF1-CFF9-28DF-C932-21A0722E2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87742F1-5F42-EF83-3EB3-D503D9B5A2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094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9FAF53-9DD5-4C00-BAB6-4CF7809EE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E38701E-0BB7-69EE-DE00-E2FBD8F006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0D3F85A-6C71-20F1-A882-1FC468A0FB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C93A0-8231-3C30-A2D9-7D5DA917C7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10C7E3-D230-EA5D-5AF4-93BE744DF7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73687A0-E664-1602-37C8-51014FD014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20627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322667-38EB-D136-4239-5E2277AF0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4535DF-EBE1-FB17-FDB8-CC98EB3695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482831-BE75-5C03-1B9B-754A64722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DBBBC2-CF86-D3D8-8244-A52A57178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12AB0C-A6CD-9C10-A801-5FAD0DBC8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2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FE2DAF-7DF3-2BC3-E807-957ED06018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F57A03-3C66-8B1C-EDC9-EF7E51D27C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CE68CC-F2C8-9C17-957D-92E1563B2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287BE37-3203-91F8-E297-04C876C56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415F74F-FF57-8673-E63A-CFD71466D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870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CCA7BEB-2BB0-FBE4-EB24-0A494A3A5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ACFA3A0-DD6D-7BF1-C969-581BAD6FE0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A1F4A1-CF0A-57D7-A8F3-185A6B7B3E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1B912-6DD3-46FD-9470-8FDDCEDBC7DE}" type="datetimeFigureOut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CA5E25-A0CE-B155-64F8-D52032D648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B8B967-7909-5CFD-2327-BEF615F286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2D20A4-3C51-429C-8048-040AC3BA8E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901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7B5DB-6D13-2DE8-E5A9-585242F8C6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빅데이터 분석 과제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D99D8E6-A2B8-5A92-23D9-4D4AF86098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2143837 </a:t>
            </a:r>
            <a:r>
              <a:rPr lang="ko-KR" altLang="en-US" dirty="0"/>
              <a:t>임찬주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3544591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CD591-E650-2ED1-9C44-D26CE582E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문제 정의와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7138F5E-AFAA-C0C3-455A-51EF7A60A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2074"/>
            <a:ext cx="10515600" cy="5495925"/>
          </a:xfrm>
        </p:spPr>
        <p:txBody>
          <a:bodyPr>
            <a:normAutofit fontScale="92500" lnSpcReduction="20000"/>
          </a:bodyPr>
          <a:lstStyle/>
          <a:p>
            <a:r>
              <a:rPr lang="ko-KR" altLang="en-US" sz="2400" dirty="0"/>
              <a:t>다양한 데이터소스</a:t>
            </a:r>
            <a:r>
              <a:rPr lang="en-US" altLang="ko-KR" sz="2400" dirty="0"/>
              <a:t>(</a:t>
            </a:r>
            <a:r>
              <a:rPr lang="ko-KR" altLang="en-US" sz="2400" dirty="0"/>
              <a:t>비디오</a:t>
            </a:r>
            <a:r>
              <a:rPr lang="en-US" altLang="ko-KR" sz="2400" dirty="0"/>
              <a:t>, </a:t>
            </a:r>
            <a:r>
              <a:rPr lang="ko-KR" altLang="en-US" sz="2400" dirty="0"/>
              <a:t>소셜미디어 스트림 등</a:t>
            </a:r>
            <a:r>
              <a:rPr lang="en-US" altLang="ko-KR" sz="2400" dirty="0"/>
              <a:t>)</a:t>
            </a:r>
            <a:r>
              <a:rPr lang="ko-KR" altLang="en-US" sz="2400" dirty="0"/>
              <a:t>로부터 실시간 데이터 처리하는 기법에 대한 단계별 과제</a:t>
            </a:r>
            <a:endParaRPr lang="en-US" altLang="ko-KR" sz="24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수집</a:t>
            </a:r>
            <a:br>
              <a:rPr lang="en-US" altLang="ko-KR" dirty="0"/>
            </a:br>
            <a:r>
              <a:rPr lang="ko-KR" altLang="en-US" sz="1800" dirty="0"/>
              <a:t>여러 소스에서 지속적으로 받아오는 단계로</a:t>
            </a:r>
            <a:br>
              <a:rPr lang="en-US" altLang="ko-KR" sz="1800" dirty="0"/>
            </a:br>
            <a:r>
              <a:rPr lang="ko-KR" altLang="en-US" sz="1800" dirty="0"/>
              <a:t>스트리밍 수집과 배치 수집 두 가지 방식이 있음</a:t>
            </a:r>
            <a:br>
              <a:rPr lang="en-US" altLang="ko-KR" sz="1800" dirty="0"/>
            </a:br>
            <a:r>
              <a:rPr lang="ko-KR" altLang="en-US" sz="1800" dirty="0"/>
              <a:t>데이터를 빠짐없이 확보하고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중복없이</a:t>
            </a:r>
            <a:r>
              <a:rPr lang="ko-KR" altLang="en-US" sz="1800" dirty="0"/>
              <a:t> 저장하는데 목적이 있음</a:t>
            </a:r>
            <a:br>
              <a:rPr lang="en-US" altLang="ko-KR" sz="1800" dirty="0"/>
            </a:br>
            <a:r>
              <a:rPr lang="en-US" altLang="ko-KR" sz="1800" dirty="0"/>
              <a:t>API</a:t>
            </a:r>
            <a:r>
              <a:rPr lang="ko-KR" altLang="en-US" sz="1800" dirty="0"/>
              <a:t>를 사용해서 실시간 수집이 가능함</a:t>
            </a:r>
            <a:endParaRPr lang="en-US" altLang="ko-KR" sz="18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스트리밍 </a:t>
            </a:r>
            <a:r>
              <a:rPr lang="en-US" altLang="ko-KR" sz="2400" dirty="0"/>
              <a:t>ETL (</a:t>
            </a:r>
            <a:r>
              <a:rPr lang="ko-KR" altLang="en-US" sz="2400" dirty="0"/>
              <a:t>정제</a:t>
            </a:r>
            <a:r>
              <a:rPr lang="en-US" altLang="ko-KR" sz="2400" dirty="0"/>
              <a:t>)</a:t>
            </a:r>
            <a:br>
              <a:rPr lang="en-US" altLang="ko-KR" dirty="0"/>
            </a:br>
            <a:r>
              <a:rPr lang="en-US" altLang="ko-KR" sz="1800" dirty="0"/>
              <a:t>Extract(</a:t>
            </a:r>
            <a:r>
              <a:rPr lang="ko-KR" altLang="en-US" sz="1800" dirty="0"/>
              <a:t>추출</a:t>
            </a:r>
            <a:r>
              <a:rPr lang="en-US" altLang="ko-KR" sz="1800" dirty="0"/>
              <a:t>)-</a:t>
            </a:r>
            <a:r>
              <a:rPr lang="en-US" altLang="ko-KR" sz="1800" dirty="0" err="1"/>
              <a:t>Tranform</a:t>
            </a:r>
            <a:r>
              <a:rPr lang="en-US" altLang="ko-KR" sz="1800" dirty="0"/>
              <a:t>(</a:t>
            </a:r>
            <a:r>
              <a:rPr lang="ko-KR" altLang="en-US" sz="1800" dirty="0"/>
              <a:t>변환</a:t>
            </a:r>
            <a:r>
              <a:rPr lang="en-US" altLang="ko-KR" sz="1800" dirty="0"/>
              <a:t>)-Load(</a:t>
            </a:r>
            <a:r>
              <a:rPr lang="ko-KR" altLang="en-US" sz="1800" dirty="0"/>
              <a:t>적재</a:t>
            </a:r>
            <a:r>
              <a:rPr lang="en-US" altLang="ko-KR" sz="1800" dirty="0"/>
              <a:t>)</a:t>
            </a:r>
            <a:br>
              <a:rPr lang="en-US" altLang="ko-KR" sz="1800" dirty="0"/>
            </a:br>
            <a:r>
              <a:rPr lang="ko-KR" altLang="en-US" sz="1800" dirty="0"/>
              <a:t>스트리밍 데이터를 정제하고 품질을 높이는 단계이다</a:t>
            </a:r>
            <a:r>
              <a:rPr lang="en-US" altLang="ko-KR" sz="1800" dirty="0"/>
              <a:t>.</a:t>
            </a:r>
            <a:br>
              <a:rPr lang="en-US" altLang="ko-KR" sz="1800" dirty="0"/>
            </a:br>
            <a:r>
              <a:rPr lang="ko-KR" altLang="en-US" sz="1800" dirty="0"/>
              <a:t>단계별 정제 레이어</a:t>
            </a:r>
            <a:r>
              <a:rPr lang="en-US" altLang="ko-KR" sz="1800" dirty="0"/>
              <a:t>(Bronze/Silver/Gold </a:t>
            </a:r>
            <a:r>
              <a:rPr lang="ko-KR" altLang="en-US" sz="1800" dirty="0"/>
              <a:t>구조</a:t>
            </a:r>
            <a:r>
              <a:rPr lang="en-US" altLang="ko-KR" sz="1800" dirty="0"/>
              <a:t>) </a:t>
            </a:r>
            <a:r>
              <a:rPr lang="ko-KR" altLang="en-US" sz="1800" dirty="0"/>
              <a:t>존재</a:t>
            </a:r>
            <a:br>
              <a:rPr lang="en-US" altLang="ko-KR" sz="1800" dirty="0"/>
            </a:br>
            <a:r>
              <a:rPr lang="en-US" altLang="ko-KR" sz="1800" dirty="0"/>
              <a:t>bronze: </a:t>
            </a:r>
            <a:r>
              <a:rPr lang="ko-KR" altLang="en-US" sz="1800" dirty="0"/>
              <a:t>스키마 고정</a:t>
            </a:r>
            <a:r>
              <a:rPr lang="en-US" altLang="ko-KR" sz="1800" dirty="0"/>
              <a:t> + </a:t>
            </a:r>
            <a:r>
              <a:rPr lang="ko-KR" altLang="en-US" sz="1800" dirty="0"/>
              <a:t>증분 적재</a:t>
            </a:r>
            <a:br>
              <a:rPr lang="en-US" altLang="ko-KR" sz="1800" dirty="0"/>
            </a:br>
            <a:r>
              <a:rPr lang="en-US" altLang="ko-KR" sz="1800" dirty="0"/>
              <a:t>silver: </a:t>
            </a:r>
            <a:r>
              <a:rPr lang="ko-KR" altLang="en-US" sz="1800" dirty="0"/>
              <a:t>중복 제거 </a:t>
            </a:r>
            <a:r>
              <a:rPr lang="en-US" altLang="ko-KR" sz="1800" dirty="0"/>
              <a:t>+ timestamp </a:t>
            </a:r>
            <a:r>
              <a:rPr lang="ko-KR" altLang="en-US" sz="1800" dirty="0"/>
              <a:t>정제 </a:t>
            </a:r>
            <a:r>
              <a:rPr lang="en-US" altLang="ko-KR" sz="1800" dirty="0"/>
              <a:t>+ sliding window </a:t>
            </a:r>
            <a:r>
              <a:rPr lang="ko-KR" altLang="en-US" sz="1800" dirty="0"/>
              <a:t>집계 </a:t>
            </a:r>
            <a:r>
              <a:rPr lang="en-US" altLang="ko-KR" sz="1800" dirty="0"/>
              <a:t>(file streaming source + sliding window + watermark)</a:t>
            </a:r>
            <a:br>
              <a:rPr lang="en-US" altLang="ko-KR" sz="1800" dirty="0"/>
            </a:br>
            <a:r>
              <a:rPr lang="en-US" altLang="ko-KR" sz="1800" dirty="0"/>
              <a:t>gold: </a:t>
            </a:r>
            <a:r>
              <a:rPr lang="ko-KR" altLang="en-US" sz="1800" dirty="0"/>
              <a:t>피처</a:t>
            </a:r>
            <a:r>
              <a:rPr lang="en-US" altLang="ko-KR" sz="1800" dirty="0"/>
              <a:t>/</a:t>
            </a:r>
            <a:r>
              <a:rPr lang="ko-KR" altLang="en-US" sz="1800" dirty="0"/>
              <a:t>라벨 데이터셋 </a:t>
            </a:r>
            <a:r>
              <a:rPr lang="en-US" altLang="ko-KR" sz="1800" dirty="0"/>
              <a:t>(</a:t>
            </a:r>
            <a:r>
              <a:rPr lang="en-US" altLang="ko-KR" sz="1800" dirty="0" err="1"/>
              <a:t>approx</a:t>
            </a:r>
            <a:r>
              <a:rPr lang="en-US" altLang="ko-KR" sz="1800" dirty="0"/>
              <a:t> unique users (HLL) + CDF/PDF thresholds)</a:t>
            </a:r>
            <a:endParaRPr lang="en-US" altLang="ko-KR" dirty="0"/>
          </a:p>
          <a:p>
            <a:pPr marL="514350" indent="-514350">
              <a:buAutoNum type="arabicPeriod"/>
            </a:pPr>
            <a:r>
              <a:rPr lang="ko-KR" altLang="en-US" sz="2400" dirty="0"/>
              <a:t>피처</a:t>
            </a:r>
            <a:r>
              <a:rPr lang="en-US" altLang="ko-KR" sz="2400" dirty="0"/>
              <a:t> &amp; </a:t>
            </a:r>
            <a:r>
              <a:rPr lang="ko-KR" altLang="en-US" sz="2400" dirty="0"/>
              <a:t>라벨 생성</a:t>
            </a:r>
            <a:br>
              <a:rPr lang="en-US" altLang="ko-KR" sz="2400" dirty="0"/>
            </a:br>
            <a:r>
              <a:rPr lang="ko-KR" altLang="en-US" sz="2200" dirty="0"/>
              <a:t>모델 입력으로 쓸 </a:t>
            </a:r>
            <a:r>
              <a:rPr lang="en-US" altLang="ko-KR" sz="2200" dirty="0"/>
              <a:t>feature</a:t>
            </a:r>
            <a:r>
              <a:rPr lang="ko-KR" altLang="en-US" sz="2200" dirty="0"/>
              <a:t>와 정답으로 쓸 </a:t>
            </a:r>
            <a:r>
              <a:rPr lang="en-US" altLang="ko-KR" sz="2200" dirty="0"/>
              <a:t>label </a:t>
            </a:r>
            <a:r>
              <a:rPr lang="ko-KR" altLang="en-US" sz="2200" dirty="0"/>
              <a:t>생성 </a:t>
            </a:r>
            <a:r>
              <a:rPr lang="en-US" altLang="ko-KR" sz="2200" dirty="0"/>
              <a:t>(multi-model metrics + Pareto front selection)</a:t>
            </a:r>
          </a:p>
          <a:p>
            <a:pPr marL="514350" indent="-514350">
              <a:buAutoNum type="arabicPeriod"/>
            </a:pPr>
            <a:r>
              <a:rPr lang="ko-KR" altLang="en-US" sz="2400" dirty="0"/>
              <a:t>모델 선정 </a:t>
            </a:r>
            <a:r>
              <a:rPr lang="en-US" altLang="ko-KR" sz="2400" dirty="0"/>
              <a:t>&amp; </a:t>
            </a:r>
            <a:r>
              <a:rPr lang="ko-KR" altLang="en-US" sz="2400" dirty="0"/>
              <a:t>학습 </a:t>
            </a:r>
            <a:r>
              <a:rPr lang="en-US" altLang="ko-KR" sz="2400" dirty="0"/>
              <a:t>: </a:t>
            </a:r>
            <a:r>
              <a:rPr lang="ko-KR" altLang="en-US" sz="2400" dirty="0"/>
              <a:t>여러 모델을 학습시켜서 정확도</a:t>
            </a:r>
            <a:r>
              <a:rPr lang="en-US" altLang="ko-KR" sz="2400" dirty="0"/>
              <a:t>, F1 </a:t>
            </a:r>
            <a:r>
              <a:rPr lang="ko-KR" altLang="en-US" sz="2400" dirty="0"/>
              <a:t>등 다중 기준으로 평가해 </a:t>
            </a:r>
            <a:r>
              <a:rPr lang="en-US" altLang="ko-KR" sz="2400" dirty="0"/>
              <a:t>Pareto </a:t>
            </a:r>
            <a:r>
              <a:rPr lang="ko-KR" altLang="en-US" sz="2400" dirty="0"/>
              <a:t>최적</a:t>
            </a:r>
            <a:r>
              <a:rPr lang="en-US" altLang="ko-KR" sz="2400" dirty="0"/>
              <a:t>(front) </a:t>
            </a:r>
            <a:r>
              <a:rPr lang="ko-KR" altLang="en-US" sz="2400" dirty="0"/>
              <a:t>모델 선택하는 단계</a:t>
            </a:r>
            <a:endParaRPr lang="en-US" altLang="ko-KR" sz="2400" dirty="0"/>
          </a:p>
          <a:p>
            <a:pPr marL="514350" indent="-514350">
              <a:buAutoNum type="arabicPeriod"/>
            </a:pPr>
            <a:r>
              <a:rPr lang="ko-KR" altLang="en-US" sz="2400" dirty="0"/>
              <a:t>실시간 서비스에 대한 이해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1972427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1C7195-45AB-7234-EF96-A9D68B46A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97FEA8-B029-E38A-9285-B0FBF1FB52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467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ECB5E0-BE88-66CB-4799-434020770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1 : Bronze Layer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B2A4E8-1005-2869-ACD7-6FEB01DCF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Reservoir Sampling</a:t>
            </a:r>
            <a:br>
              <a:rPr lang="en-US" altLang="ko-KR" dirty="0"/>
            </a:br>
            <a:r>
              <a:rPr lang="ko-KR" altLang="en-US" dirty="0"/>
              <a:t>개선 사항 </a:t>
            </a:r>
            <a:r>
              <a:rPr lang="en-US" altLang="ko-KR" dirty="0"/>
              <a:t>: </a:t>
            </a:r>
            <a:r>
              <a:rPr lang="ko-KR" altLang="en-US" dirty="0"/>
              <a:t>현재는 파이썬 </a:t>
            </a:r>
            <a:r>
              <a:rPr lang="en-US" altLang="ko-KR" dirty="0"/>
              <a:t>map</a:t>
            </a:r>
            <a:r>
              <a:rPr lang="ko-KR" altLang="en-US" dirty="0"/>
              <a:t>으로 샘플링 하는데 </a:t>
            </a:r>
            <a:r>
              <a:rPr lang="en-US" altLang="ko-KR" dirty="0"/>
              <a:t>Spark </a:t>
            </a:r>
            <a:r>
              <a:rPr lang="ko-KR" altLang="en-US" dirty="0"/>
              <a:t>내장 </a:t>
            </a:r>
            <a:r>
              <a:rPr lang="en-US" altLang="ko-KR" dirty="0"/>
              <a:t>sample() </a:t>
            </a:r>
            <a:r>
              <a:rPr lang="ko-KR" altLang="en-US" dirty="0"/>
              <a:t>함수를 사용하면 동일 확률 샘플링 가능</a:t>
            </a:r>
            <a:br>
              <a:rPr lang="en-US" altLang="ko-KR" dirty="0"/>
            </a:br>
            <a:r>
              <a:rPr lang="en-US" altLang="ko-KR" dirty="0"/>
              <a:t>(docker system </a:t>
            </a:r>
            <a:r>
              <a:rPr lang="ko-KR" altLang="en-US" dirty="0"/>
              <a:t>활용으로 인한 </a:t>
            </a:r>
            <a:r>
              <a:rPr lang="en-US" altLang="ko-KR"/>
              <a:t>random </a:t>
            </a:r>
            <a:r>
              <a:rPr lang="ko-KR" altLang="en-US"/>
              <a:t>패키지 사용</a:t>
            </a:r>
            <a:r>
              <a:rPr lang="en-US" altLang="ko-KR"/>
              <a:t>)</a:t>
            </a:r>
            <a:endParaRPr lang="en-US" altLang="ko-KR" dirty="0"/>
          </a:p>
          <a:p>
            <a:r>
              <a:rPr lang="en-US" altLang="ko-KR" dirty="0"/>
              <a:t>Bloom Filter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C78C526-DE55-C885-BF00-CFBC4625A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3" y="4024125"/>
            <a:ext cx="4602551" cy="18962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A68E2F0-36E4-3C7B-0512-B17FA8FCD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913111"/>
            <a:ext cx="4842580" cy="2118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385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E6EC9-2862-BD51-3FB6-4B11D095C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FD98FD-6643-E811-A7A0-D5E9061D6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2 : Silver Layer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BBDDF4-554D-B9E5-BCCA-F1732E4AC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Watermark : Spark</a:t>
            </a:r>
            <a:r>
              <a:rPr lang="ko-KR" altLang="en-US" dirty="0"/>
              <a:t>가 </a:t>
            </a:r>
            <a:r>
              <a:rPr lang="en-US" altLang="ko-KR" dirty="0"/>
              <a:t>“</a:t>
            </a:r>
            <a:r>
              <a:rPr lang="ko-KR" altLang="en-US" dirty="0"/>
              <a:t>얼마나 오래 기다릴지</a:t>
            </a:r>
            <a:r>
              <a:rPr lang="en-US" altLang="ko-KR" dirty="0"/>
              <a:t>”</a:t>
            </a:r>
            <a:r>
              <a:rPr lang="ko-KR" altLang="en-US" dirty="0"/>
              <a:t>를 알려주는 지연 허용 정책이다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지연된 데이터를 얼마나 받아들일지를 결정함</a:t>
            </a:r>
            <a:endParaRPr lang="en-US" altLang="ko-KR" dirty="0"/>
          </a:p>
          <a:p>
            <a:r>
              <a:rPr lang="en-US" altLang="ko-KR" dirty="0"/>
              <a:t>Sliding Window</a:t>
            </a:r>
            <a:br>
              <a:rPr lang="en-US" altLang="ko-KR" dirty="0"/>
            </a:br>
            <a:r>
              <a:rPr lang="en-US" altLang="ko-KR" dirty="0"/>
              <a:t>- Win : 1 hour / Slide : 5 minutes -&gt; 1</a:t>
            </a:r>
            <a:r>
              <a:rPr lang="ko-KR" altLang="en-US" dirty="0" err="1"/>
              <a:t>시간짜리를</a:t>
            </a:r>
            <a:r>
              <a:rPr lang="ko-KR" altLang="en-US" dirty="0"/>
              <a:t> </a:t>
            </a:r>
            <a:r>
              <a:rPr lang="en-US" altLang="ko-KR" dirty="0"/>
              <a:t>5</a:t>
            </a:r>
            <a:r>
              <a:rPr lang="ko-KR" altLang="en-US" dirty="0"/>
              <a:t>분 단위로 슬라이딩해서 집계한다</a:t>
            </a:r>
            <a:r>
              <a:rPr lang="en-US" altLang="ko-KR" dirty="0"/>
              <a:t>!</a:t>
            </a:r>
            <a:br>
              <a:rPr lang="en-US" altLang="ko-KR" dirty="0"/>
            </a:br>
            <a:r>
              <a:rPr lang="en-US" altLang="ko-KR" dirty="0"/>
              <a:t>- overlap </a:t>
            </a:r>
            <a:r>
              <a:rPr lang="ko-KR" altLang="en-US" dirty="0"/>
              <a:t>구조임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ED4381B-55F6-915A-4D52-CF238447DC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0300" y="4001294"/>
            <a:ext cx="5215494" cy="2585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487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11D68-78D0-FE2F-C946-13E6055CE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277C6F-C15B-1CD1-697B-54A2815A5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3 : Gold Layer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6660C1-BEED-3F44-9ED3-C9B015262C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/>
              <a:t>전체 파이프라인</a:t>
            </a:r>
            <a:br>
              <a:rPr lang="en-US" altLang="ko-KR" dirty="0"/>
            </a:br>
            <a:r>
              <a:rPr lang="en-US" altLang="ko-KR" sz="1800" dirty="0"/>
              <a:t>Silver layer</a:t>
            </a:r>
            <a:r>
              <a:rPr lang="ko-KR" altLang="en-US" sz="1800" dirty="0"/>
              <a:t>의 출력을 입력으로 받아서 참여도</a:t>
            </a:r>
            <a:r>
              <a:rPr lang="en-US" altLang="ko-KR" sz="1800" dirty="0"/>
              <a:t>(engagement_24h) </a:t>
            </a:r>
            <a:r>
              <a:rPr lang="ko-KR" altLang="en-US" sz="1800" dirty="0"/>
              <a:t>계산하여 피처를 생성하고</a:t>
            </a:r>
            <a:r>
              <a:rPr lang="en-US" altLang="ko-KR" sz="1800" dirty="0"/>
              <a:t>, FM </a:t>
            </a:r>
            <a:r>
              <a:rPr lang="ko-KR" altLang="en-US" sz="1800" dirty="0"/>
              <a:t>알고리즘을 이용해 고유 사용자 수 추정</a:t>
            </a:r>
            <a:r>
              <a:rPr lang="en-US" altLang="ko-KR" sz="1800" dirty="0"/>
              <a:t>(</a:t>
            </a:r>
            <a:r>
              <a:rPr lang="en-US" altLang="ko-KR" sz="1800" dirty="0" err="1"/>
              <a:t>hyperloglog</a:t>
            </a:r>
            <a:r>
              <a:rPr lang="en-US" altLang="ko-KR" sz="1800" dirty="0"/>
              <a:t>)</a:t>
            </a:r>
            <a:r>
              <a:rPr lang="ko-KR" altLang="en-US" sz="1800" dirty="0"/>
              <a:t>하고</a:t>
            </a:r>
            <a:r>
              <a:rPr lang="en-US" altLang="ko-KR" sz="1800" dirty="0"/>
              <a:t>, CDF/PDF </a:t>
            </a:r>
            <a:r>
              <a:rPr lang="ko-KR" altLang="en-US" sz="1800" dirty="0"/>
              <a:t>기반 임계치 계산하고</a:t>
            </a:r>
            <a:r>
              <a:rPr lang="en-US" altLang="ko-KR" sz="1800" dirty="0"/>
              <a:t>, </a:t>
            </a:r>
            <a:r>
              <a:rPr lang="ko-KR" altLang="en-US" sz="1800" dirty="0"/>
              <a:t>상위 </a:t>
            </a:r>
            <a:r>
              <a:rPr lang="ko-KR" altLang="en-US" sz="1800" dirty="0" err="1"/>
              <a:t>퍼센타일</a:t>
            </a:r>
            <a:r>
              <a:rPr lang="ko-KR" altLang="en-US" sz="1800" dirty="0"/>
              <a:t> 기준으로 </a:t>
            </a:r>
            <a:r>
              <a:rPr lang="en-US" altLang="ko-KR" sz="1800" dirty="0"/>
              <a:t>label </a:t>
            </a:r>
            <a:r>
              <a:rPr lang="ko-KR" altLang="en-US" sz="1800" dirty="0"/>
              <a:t>생성하고</a:t>
            </a:r>
            <a:r>
              <a:rPr lang="en-US" altLang="ko-KR" sz="1800" dirty="0"/>
              <a:t>, Delta lake format</a:t>
            </a:r>
            <a:r>
              <a:rPr lang="ko-KR" altLang="en-US" sz="1800" dirty="0"/>
              <a:t>으로 저장한다</a:t>
            </a:r>
            <a:r>
              <a:rPr lang="en-US" altLang="ko-KR" sz="1800" dirty="0"/>
              <a:t>. </a:t>
            </a:r>
            <a:r>
              <a:rPr lang="ko-KR" altLang="en-US" sz="1800" dirty="0"/>
              <a:t>즉</a:t>
            </a:r>
            <a:r>
              <a:rPr lang="en-US" altLang="ko-KR" sz="1800" dirty="0"/>
              <a:t>, </a:t>
            </a:r>
            <a:r>
              <a:rPr lang="ko-KR" altLang="en-US" sz="1800" dirty="0"/>
              <a:t>모델 학습용 </a:t>
            </a:r>
            <a:r>
              <a:rPr lang="en-US" altLang="ko-KR" sz="1800" dirty="0"/>
              <a:t>Gold Feature Table</a:t>
            </a:r>
            <a:r>
              <a:rPr lang="ko-KR" altLang="en-US" sz="1800" dirty="0"/>
              <a:t>을 만드는 단계이다</a:t>
            </a:r>
            <a:r>
              <a:rPr lang="en-US" altLang="ko-KR" sz="1800" dirty="0"/>
              <a:t>. </a:t>
            </a:r>
          </a:p>
          <a:p>
            <a:r>
              <a:rPr lang="en-US" altLang="ko-KR" dirty="0" err="1"/>
              <a:t>Flajolet</a:t>
            </a:r>
            <a:r>
              <a:rPr lang="en-US" altLang="ko-KR" dirty="0"/>
              <a:t>–Martin(</a:t>
            </a:r>
            <a:r>
              <a:rPr lang="ko-KR" altLang="en-US" dirty="0"/>
              <a:t>근사 유니크 카운트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3D5B307-14DF-9250-19E1-723AE45CB2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9755" y="5597330"/>
            <a:ext cx="3724795" cy="3715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C437593-DF6D-B3B3-C4BB-DFD8174D15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5951" y="4682803"/>
            <a:ext cx="4448796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055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AC8CA-16C3-C344-B076-9E64F490E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4975DA-D870-1FB8-EF41-BF8B626CA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 </a:t>
            </a:r>
            <a:r>
              <a:rPr lang="en-US" altLang="ko-KR" dirty="0"/>
              <a:t>4 : Pareto Front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E3B6AB2-8D1D-9D0C-E61B-54596AE12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951" y="4682803"/>
            <a:ext cx="4448796" cy="1286054"/>
          </a:xfrm>
          <a:prstGeom prst="rect">
            <a:avLst/>
          </a:prstGeom>
        </p:spPr>
      </p:pic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D742E03-63E2-41F0-4A91-15448B343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6001"/>
            <a:ext cx="10515600" cy="4351338"/>
          </a:xfr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2917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FB26D8-6D51-62F5-95AF-C025CBC8F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C922AC-E46C-FA9B-3F6C-6F2FE142A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5580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431F0-98D9-1671-724F-F775161BE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실험 및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EAF650-4CBD-8BCE-1A07-14B3E99AF0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0403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48EF97-2352-08FD-FFD9-7EBC4728B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고찰 및 결론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B038EA-83CD-7475-F90A-695ABD2EF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6362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D31240-3758-9A95-84DA-DF516F821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참고문헌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4C87D9-67E4-C1B7-9B2C-CEBAA249A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5256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375</Words>
  <Application>Microsoft Office PowerPoint</Application>
  <PresentationFormat>와이드스크린</PresentationFormat>
  <Paragraphs>24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빅데이터 분석 과제</vt:lpstr>
      <vt:lpstr>문제 정의와 목표</vt:lpstr>
      <vt:lpstr>설계</vt:lpstr>
      <vt:lpstr>과제 1 : Bronze Layer</vt:lpstr>
      <vt:lpstr>과제 2 : Silver Layer</vt:lpstr>
      <vt:lpstr>과제 3 : Gold Layer</vt:lpstr>
      <vt:lpstr>과제 4 : Pareto Front</vt:lpstr>
      <vt:lpstr>구현</vt:lpstr>
      <vt:lpstr>실험 및 결과</vt:lpstr>
      <vt:lpstr>고찰 및 결론</vt:lpstr>
      <vt:lpstr>참고문헌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임찬주</dc:creator>
  <cp:lastModifiedBy>임찬주</cp:lastModifiedBy>
  <cp:revision>38</cp:revision>
  <dcterms:created xsi:type="dcterms:W3CDTF">2025-11-06T03:52:52Z</dcterms:created>
  <dcterms:modified xsi:type="dcterms:W3CDTF">2025-11-07T09:24:55Z</dcterms:modified>
</cp:coreProperties>
</file>